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765"/>
  </p:normalViewPr>
  <p:slideViewPr>
    <p:cSldViewPr snapToGrid="0">
      <p:cViewPr varScale="1">
        <p:scale>
          <a:sx n="91" d="100"/>
          <a:sy n="91" d="100"/>
        </p:scale>
        <p:origin x="19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232854-0790-4E19-B866-417F7D599ED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332122-A884-4FA7-AFC4-1CDA02CBEA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Optimize Operations:</a:t>
          </a:r>
          <a:r>
            <a:rPr lang="en-US" dirty="0"/>
            <a:t> Streamline store operations &amp; inventory</a:t>
          </a:r>
        </a:p>
      </dgm:t>
    </dgm:pt>
    <dgm:pt modelId="{85C61D32-02AB-457C-8836-42F8252CFCFD}" type="parTrans" cxnId="{AF52EC70-21E7-4811-BAED-FE7EF7164DEA}">
      <dgm:prSet/>
      <dgm:spPr/>
      <dgm:t>
        <a:bodyPr/>
        <a:lstStyle/>
        <a:p>
          <a:endParaRPr lang="en-US"/>
        </a:p>
      </dgm:t>
    </dgm:pt>
    <dgm:pt modelId="{770E43FC-6A4B-4050-B763-FEDB11B1BB8C}" type="sibTrans" cxnId="{AF52EC70-21E7-4811-BAED-FE7EF7164D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890749-0CC4-4A8E-8BA4-D9423E6E69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Focus on Winners:</a:t>
          </a:r>
          <a:r>
            <a:rPr lang="en-US" dirty="0"/>
            <a:t> Prioritize top-selling products/services</a:t>
          </a:r>
        </a:p>
      </dgm:t>
    </dgm:pt>
    <dgm:pt modelId="{2BB7D6E1-24EE-401C-89F3-C597A3CF9129}" type="parTrans" cxnId="{3401155C-2D18-4CC9-95A6-884365EEA9E9}">
      <dgm:prSet/>
      <dgm:spPr/>
      <dgm:t>
        <a:bodyPr/>
        <a:lstStyle/>
        <a:p>
          <a:endParaRPr lang="en-US"/>
        </a:p>
      </dgm:t>
    </dgm:pt>
    <dgm:pt modelId="{C596139E-6E0B-4154-94C2-88CEC100CCC8}" type="sibTrans" cxnId="{3401155C-2D18-4CC9-95A6-884365EEA9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1AA7E9-5CC6-40B1-B53D-3E22D5EEFF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Smart Marketing:</a:t>
          </a:r>
          <a:r>
            <a:rPr lang="en-US" dirty="0"/>
            <a:t> Run targeted, effective campaigns</a:t>
          </a:r>
        </a:p>
      </dgm:t>
    </dgm:pt>
    <dgm:pt modelId="{F51F7EDD-64B6-4AFA-A4DA-42FA974B7076}" type="parTrans" cxnId="{1851C091-11EC-4EC5-88A9-41AE70E23FB4}">
      <dgm:prSet/>
      <dgm:spPr/>
      <dgm:t>
        <a:bodyPr/>
        <a:lstStyle/>
        <a:p>
          <a:endParaRPr lang="en-US"/>
        </a:p>
      </dgm:t>
    </dgm:pt>
    <dgm:pt modelId="{86B29B04-BCFC-43DE-A88B-AF19A4E840BB}" type="sibTrans" cxnId="{1851C091-11EC-4EC5-88A9-41AE70E23FB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E6A577-25F8-48AB-905D-A0410ECBA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Right Staffing:</a:t>
          </a:r>
          <a:r>
            <a:rPr lang="en-US" dirty="0"/>
            <a:t> Ensure stores are optimally staffed</a:t>
          </a:r>
        </a:p>
      </dgm:t>
    </dgm:pt>
    <dgm:pt modelId="{6D6610D5-9E45-49C1-AF99-4932875CCAAD}" type="parTrans" cxnId="{599A9AB9-EE70-4723-BF6D-9B271BD56327}">
      <dgm:prSet/>
      <dgm:spPr/>
      <dgm:t>
        <a:bodyPr/>
        <a:lstStyle/>
        <a:p>
          <a:endParaRPr lang="en-US"/>
        </a:p>
      </dgm:t>
    </dgm:pt>
    <dgm:pt modelId="{A9DD9BA4-4896-4FE8-8587-24AF0931E728}" type="sibTrans" cxnId="{599A9AB9-EE70-4723-BF6D-9B271BD56327}">
      <dgm:prSet/>
      <dgm:spPr/>
      <dgm:t>
        <a:bodyPr/>
        <a:lstStyle/>
        <a:p>
          <a:endParaRPr lang="en-US"/>
        </a:p>
      </dgm:t>
    </dgm:pt>
    <dgm:pt modelId="{0243FB20-0281-4E24-A51F-9FE633CACDA4}" type="pres">
      <dgm:prSet presAssocID="{68232854-0790-4E19-B866-417F7D599ED9}" presName="root" presStyleCnt="0">
        <dgm:presLayoutVars>
          <dgm:dir/>
          <dgm:resizeHandles val="exact"/>
        </dgm:presLayoutVars>
      </dgm:prSet>
      <dgm:spPr/>
    </dgm:pt>
    <dgm:pt modelId="{1607CE6E-BA30-4F10-BA6E-36B9F5035787}" type="pres">
      <dgm:prSet presAssocID="{68232854-0790-4E19-B866-417F7D599ED9}" presName="container" presStyleCnt="0">
        <dgm:presLayoutVars>
          <dgm:dir/>
          <dgm:resizeHandles val="exact"/>
        </dgm:presLayoutVars>
      </dgm:prSet>
      <dgm:spPr/>
    </dgm:pt>
    <dgm:pt modelId="{A3C41A20-D9C5-4A7F-93F9-3CDFA5EEC5CB}" type="pres">
      <dgm:prSet presAssocID="{02332122-A884-4FA7-AFC4-1CDA02CBEA48}" presName="compNode" presStyleCnt="0"/>
      <dgm:spPr/>
    </dgm:pt>
    <dgm:pt modelId="{D36DA1B2-CA8A-4002-AA8F-DC68A2EBCA5F}" type="pres">
      <dgm:prSet presAssocID="{02332122-A884-4FA7-AFC4-1CDA02CBEA48}" presName="iconBgRect" presStyleLbl="bgShp" presStyleIdx="0" presStyleCnt="4"/>
      <dgm:spPr/>
    </dgm:pt>
    <dgm:pt modelId="{CE2ED4FA-4F89-4232-8859-53BEDD0EDBFD}" type="pres">
      <dgm:prSet presAssocID="{02332122-A884-4FA7-AFC4-1CDA02CBEA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CA063B6-CA6A-4983-B3CB-8742B61B5578}" type="pres">
      <dgm:prSet presAssocID="{02332122-A884-4FA7-AFC4-1CDA02CBEA48}" presName="spaceRect" presStyleCnt="0"/>
      <dgm:spPr/>
    </dgm:pt>
    <dgm:pt modelId="{258D21E8-AE1E-477F-A3E1-DF2022E76891}" type="pres">
      <dgm:prSet presAssocID="{02332122-A884-4FA7-AFC4-1CDA02CBEA48}" presName="textRect" presStyleLbl="revTx" presStyleIdx="0" presStyleCnt="4">
        <dgm:presLayoutVars>
          <dgm:chMax val="1"/>
          <dgm:chPref val="1"/>
        </dgm:presLayoutVars>
      </dgm:prSet>
      <dgm:spPr/>
    </dgm:pt>
    <dgm:pt modelId="{11CEBE11-9C16-4BB2-91F1-02B4DCDE9B98}" type="pres">
      <dgm:prSet presAssocID="{770E43FC-6A4B-4050-B763-FEDB11B1BB8C}" presName="sibTrans" presStyleLbl="sibTrans2D1" presStyleIdx="0" presStyleCnt="0"/>
      <dgm:spPr/>
    </dgm:pt>
    <dgm:pt modelId="{D46297DC-9A29-46F0-A181-B9EEE3455AF2}" type="pres">
      <dgm:prSet presAssocID="{6F890749-0CC4-4A8E-8BA4-D9423E6E6952}" presName="compNode" presStyleCnt="0"/>
      <dgm:spPr/>
    </dgm:pt>
    <dgm:pt modelId="{ADD1E6B2-53CC-4A70-8CD2-896403D2ECEF}" type="pres">
      <dgm:prSet presAssocID="{6F890749-0CC4-4A8E-8BA4-D9423E6E6952}" presName="iconBgRect" presStyleLbl="bgShp" presStyleIdx="1" presStyleCnt="4"/>
      <dgm:spPr/>
    </dgm:pt>
    <dgm:pt modelId="{5160AFC4-0F7A-44BB-8A27-0589F48B4B34}" type="pres">
      <dgm:prSet presAssocID="{6F890749-0CC4-4A8E-8BA4-D9423E6E69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DB76E8C2-B7F2-4FB4-AC21-FD6BA44F64E6}" type="pres">
      <dgm:prSet presAssocID="{6F890749-0CC4-4A8E-8BA4-D9423E6E6952}" presName="spaceRect" presStyleCnt="0"/>
      <dgm:spPr/>
    </dgm:pt>
    <dgm:pt modelId="{447FBB38-FC3B-4EA8-A7ED-6E02F41B9C33}" type="pres">
      <dgm:prSet presAssocID="{6F890749-0CC4-4A8E-8BA4-D9423E6E6952}" presName="textRect" presStyleLbl="revTx" presStyleIdx="1" presStyleCnt="4">
        <dgm:presLayoutVars>
          <dgm:chMax val="1"/>
          <dgm:chPref val="1"/>
        </dgm:presLayoutVars>
      </dgm:prSet>
      <dgm:spPr/>
    </dgm:pt>
    <dgm:pt modelId="{A9B1DB09-3CC2-4AC3-B786-72BFC16599C2}" type="pres">
      <dgm:prSet presAssocID="{C596139E-6E0B-4154-94C2-88CEC100CCC8}" presName="sibTrans" presStyleLbl="sibTrans2D1" presStyleIdx="0" presStyleCnt="0"/>
      <dgm:spPr/>
    </dgm:pt>
    <dgm:pt modelId="{38DC7208-E3B6-471A-854F-CCA572D73041}" type="pres">
      <dgm:prSet presAssocID="{D21AA7E9-5CC6-40B1-B53D-3E22D5EEFFF7}" presName="compNode" presStyleCnt="0"/>
      <dgm:spPr/>
    </dgm:pt>
    <dgm:pt modelId="{A737A41C-6619-4D3A-A386-09CAA0D0FF7D}" type="pres">
      <dgm:prSet presAssocID="{D21AA7E9-5CC6-40B1-B53D-3E22D5EEFFF7}" presName="iconBgRect" presStyleLbl="bgShp" presStyleIdx="2" presStyleCnt="4"/>
      <dgm:spPr/>
    </dgm:pt>
    <dgm:pt modelId="{7ACE5CCF-558C-47A4-8F5D-05D7A83B3926}" type="pres">
      <dgm:prSet presAssocID="{D21AA7E9-5CC6-40B1-B53D-3E22D5EEFF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E74479-13DF-4B66-890C-900D6A18FEF5}" type="pres">
      <dgm:prSet presAssocID="{D21AA7E9-5CC6-40B1-B53D-3E22D5EEFFF7}" presName="spaceRect" presStyleCnt="0"/>
      <dgm:spPr/>
    </dgm:pt>
    <dgm:pt modelId="{084852CA-D1AA-4143-9ED6-602CBC08D576}" type="pres">
      <dgm:prSet presAssocID="{D21AA7E9-5CC6-40B1-B53D-3E22D5EEFFF7}" presName="textRect" presStyleLbl="revTx" presStyleIdx="2" presStyleCnt="4">
        <dgm:presLayoutVars>
          <dgm:chMax val="1"/>
          <dgm:chPref val="1"/>
        </dgm:presLayoutVars>
      </dgm:prSet>
      <dgm:spPr/>
    </dgm:pt>
    <dgm:pt modelId="{6FF7D2C7-17CA-4B0C-98C3-C0AD3564F18D}" type="pres">
      <dgm:prSet presAssocID="{86B29B04-BCFC-43DE-A88B-AF19A4E840BB}" presName="sibTrans" presStyleLbl="sibTrans2D1" presStyleIdx="0" presStyleCnt="0"/>
      <dgm:spPr/>
    </dgm:pt>
    <dgm:pt modelId="{A5EFD21C-2B92-4BB0-ABA2-ABF693CDAB19}" type="pres">
      <dgm:prSet presAssocID="{51E6A577-25F8-48AB-905D-A0410ECBAB61}" presName="compNode" presStyleCnt="0"/>
      <dgm:spPr/>
    </dgm:pt>
    <dgm:pt modelId="{280A4D25-42BE-4BB8-9839-E8DBE6343C4D}" type="pres">
      <dgm:prSet presAssocID="{51E6A577-25F8-48AB-905D-A0410ECBAB61}" presName="iconBgRect" presStyleLbl="bgShp" presStyleIdx="3" presStyleCnt="4"/>
      <dgm:spPr/>
    </dgm:pt>
    <dgm:pt modelId="{644794D0-2911-4CA1-9D76-55DAE2867EAB}" type="pres">
      <dgm:prSet presAssocID="{51E6A577-25F8-48AB-905D-A0410ECBAB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2B11220-6C5E-4B96-975C-56C8DDE45E8D}" type="pres">
      <dgm:prSet presAssocID="{51E6A577-25F8-48AB-905D-A0410ECBAB61}" presName="spaceRect" presStyleCnt="0"/>
      <dgm:spPr/>
    </dgm:pt>
    <dgm:pt modelId="{F7FB4246-FB11-4CE6-9AA5-1524805999BE}" type="pres">
      <dgm:prSet presAssocID="{51E6A577-25F8-48AB-905D-A0410ECBAB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CD1A47-BDBC-4267-96C5-E5FD062257BF}" type="presOf" srcId="{770E43FC-6A4B-4050-B763-FEDB11B1BB8C}" destId="{11CEBE11-9C16-4BB2-91F1-02B4DCDE9B98}" srcOrd="0" destOrd="0" presId="urn:microsoft.com/office/officeart/2018/2/layout/IconCircleList"/>
    <dgm:cxn modelId="{3401155C-2D18-4CC9-95A6-884365EEA9E9}" srcId="{68232854-0790-4E19-B866-417F7D599ED9}" destId="{6F890749-0CC4-4A8E-8BA4-D9423E6E6952}" srcOrd="1" destOrd="0" parTransId="{2BB7D6E1-24EE-401C-89F3-C597A3CF9129}" sibTransId="{C596139E-6E0B-4154-94C2-88CEC100CCC8}"/>
    <dgm:cxn modelId="{AEA4616A-774E-4BAF-A8E0-473D22F58FEA}" type="presOf" srcId="{6F890749-0CC4-4A8E-8BA4-D9423E6E6952}" destId="{447FBB38-FC3B-4EA8-A7ED-6E02F41B9C33}" srcOrd="0" destOrd="0" presId="urn:microsoft.com/office/officeart/2018/2/layout/IconCircleList"/>
    <dgm:cxn modelId="{AF52EC70-21E7-4811-BAED-FE7EF7164DEA}" srcId="{68232854-0790-4E19-B866-417F7D599ED9}" destId="{02332122-A884-4FA7-AFC4-1CDA02CBEA48}" srcOrd="0" destOrd="0" parTransId="{85C61D32-02AB-457C-8836-42F8252CFCFD}" sibTransId="{770E43FC-6A4B-4050-B763-FEDB11B1BB8C}"/>
    <dgm:cxn modelId="{BAC52F77-81BE-4B1B-BF6E-4E5F11919337}" type="presOf" srcId="{51E6A577-25F8-48AB-905D-A0410ECBAB61}" destId="{F7FB4246-FB11-4CE6-9AA5-1524805999BE}" srcOrd="0" destOrd="0" presId="urn:microsoft.com/office/officeart/2018/2/layout/IconCircleList"/>
    <dgm:cxn modelId="{B6860C7F-246A-4AA7-9259-2286C8318C05}" type="presOf" srcId="{02332122-A884-4FA7-AFC4-1CDA02CBEA48}" destId="{258D21E8-AE1E-477F-A3E1-DF2022E76891}" srcOrd="0" destOrd="0" presId="urn:microsoft.com/office/officeart/2018/2/layout/IconCircleList"/>
    <dgm:cxn modelId="{1851C091-11EC-4EC5-88A9-41AE70E23FB4}" srcId="{68232854-0790-4E19-B866-417F7D599ED9}" destId="{D21AA7E9-5CC6-40B1-B53D-3E22D5EEFFF7}" srcOrd="2" destOrd="0" parTransId="{F51F7EDD-64B6-4AFA-A4DA-42FA974B7076}" sibTransId="{86B29B04-BCFC-43DE-A88B-AF19A4E840BB}"/>
    <dgm:cxn modelId="{5E5BC893-5215-4E14-AA2E-5B634A8C3E9B}" type="presOf" srcId="{C596139E-6E0B-4154-94C2-88CEC100CCC8}" destId="{A9B1DB09-3CC2-4AC3-B786-72BFC16599C2}" srcOrd="0" destOrd="0" presId="urn:microsoft.com/office/officeart/2018/2/layout/IconCircleList"/>
    <dgm:cxn modelId="{C76FA79B-3350-444A-BDCE-CB902D283ED3}" type="presOf" srcId="{68232854-0790-4E19-B866-417F7D599ED9}" destId="{0243FB20-0281-4E24-A51F-9FE633CACDA4}" srcOrd="0" destOrd="0" presId="urn:microsoft.com/office/officeart/2018/2/layout/IconCircleList"/>
    <dgm:cxn modelId="{599A9AB9-EE70-4723-BF6D-9B271BD56327}" srcId="{68232854-0790-4E19-B866-417F7D599ED9}" destId="{51E6A577-25F8-48AB-905D-A0410ECBAB61}" srcOrd="3" destOrd="0" parTransId="{6D6610D5-9E45-49C1-AF99-4932875CCAAD}" sibTransId="{A9DD9BA4-4896-4FE8-8587-24AF0931E728}"/>
    <dgm:cxn modelId="{BCF2ACC7-33B2-404B-9E42-566BF271F460}" type="presOf" srcId="{86B29B04-BCFC-43DE-A88B-AF19A4E840BB}" destId="{6FF7D2C7-17CA-4B0C-98C3-C0AD3564F18D}" srcOrd="0" destOrd="0" presId="urn:microsoft.com/office/officeart/2018/2/layout/IconCircleList"/>
    <dgm:cxn modelId="{44E2BAE7-4C87-464F-AA83-8447B3E97791}" type="presOf" srcId="{D21AA7E9-5CC6-40B1-B53D-3E22D5EEFFF7}" destId="{084852CA-D1AA-4143-9ED6-602CBC08D576}" srcOrd="0" destOrd="0" presId="urn:microsoft.com/office/officeart/2018/2/layout/IconCircleList"/>
    <dgm:cxn modelId="{7A499CFA-B802-412B-87CF-715E389AC678}" type="presParOf" srcId="{0243FB20-0281-4E24-A51F-9FE633CACDA4}" destId="{1607CE6E-BA30-4F10-BA6E-36B9F5035787}" srcOrd="0" destOrd="0" presId="urn:microsoft.com/office/officeart/2018/2/layout/IconCircleList"/>
    <dgm:cxn modelId="{1DAAA9F7-BCC3-4D7D-B11C-1592DDBE67B9}" type="presParOf" srcId="{1607CE6E-BA30-4F10-BA6E-36B9F5035787}" destId="{A3C41A20-D9C5-4A7F-93F9-3CDFA5EEC5CB}" srcOrd="0" destOrd="0" presId="urn:microsoft.com/office/officeart/2018/2/layout/IconCircleList"/>
    <dgm:cxn modelId="{208604F6-93EB-4325-9B1E-DA2C20F6A408}" type="presParOf" srcId="{A3C41A20-D9C5-4A7F-93F9-3CDFA5EEC5CB}" destId="{D36DA1B2-CA8A-4002-AA8F-DC68A2EBCA5F}" srcOrd="0" destOrd="0" presId="urn:microsoft.com/office/officeart/2018/2/layout/IconCircleList"/>
    <dgm:cxn modelId="{AFAFE9BC-AB39-4033-ACAE-3620D42E764D}" type="presParOf" srcId="{A3C41A20-D9C5-4A7F-93F9-3CDFA5EEC5CB}" destId="{CE2ED4FA-4F89-4232-8859-53BEDD0EDBFD}" srcOrd="1" destOrd="0" presId="urn:microsoft.com/office/officeart/2018/2/layout/IconCircleList"/>
    <dgm:cxn modelId="{6CF6175A-C2D7-41BA-A68F-678176A94E51}" type="presParOf" srcId="{A3C41A20-D9C5-4A7F-93F9-3CDFA5EEC5CB}" destId="{4CA063B6-CA6A-4983-B3CB-8742B61B5578}" srcOrd="2" destOrd="0" presId="urn:microsoft.com/office/officeart/2018/2/layout/IconCircleList"/>
    <dgm:cxn modelId="{F2A89FD2-9BF2-4D5D-A18C-27571D61914F}" type="presParOf" srcId="{A3C41A20-D9C5-4A7F-93F9-3CDFA5EEC5CB}" destId="{258D21E8-AE1E-477F-A3E1-DF2022E76891}" srcOrd="3" destOrd="0" presId="urn:microsoft.com/office/officeart/2018/2/layout/IconCircleList"/>
    <dgm:cxn modelId="{20C36271-82DE-46D4-A3DB-09196E5935F1}" type="presParOf" srcId="{1607CE6E-BA30-4F10-BA6E-36B9F5035787}" destId="{11CEBE11-9C16-4BB2-91F1-02B4DCDE9B98}" srcOrd="1" destOrd="0" presId="urn:microsoft.com/office/officeart/2018/2/layout/IconCircleList"/>
    <dgm:cxn modelId="{43634CFA-6C02-4187-AE28-2B8B96AC162C}" type="presParOf" srcId="{1607CE6E-BA30-4F10-BA6E-36B9F5035787}" destId="{D46297DC-9A29-46F0-A181-B9EEE3455AF2}" srcOrd="2" destOrd="0" presId="urn:microsoft.com/office/officeart/2018/2/layout/IconCircleList"/>
    <dgm:cxn modelId="{6D1D42B4-B15E-41B7-A055-CE0F991CA757}" type="presParOf" srcId="{D46297DC-9A29-46F0-A181-B9EEE3455AF2}" destId="{ADD1E6B2-53CC-4A70-8CD2-896403D2ECEF}" srcOrd="0" destOrd="0" presId="urn:microsoft.com/office/officeart/2018/2/layout/IconCircleList"/>
    <dgm:cxn modelId="{3CE70511-D3D1-435E-92DC-60A79007DA62}" type="presParOf" srcId="{D46297DC-9A29-46F0-A181-B9EEE3455AF2}" destId="{5160AFC4-0F7A-44BB-8A27-0589F48B4B34}" srcOrd="1" destOrd="0" presId="urn:microsoft.com/office/officeart/2018/2/layout/IconCircleList"/>
    <dgm:cxn modelId="{6137A7E1-FA0A-4495-9ED4-8AA447CCA5F5}" type="presParOf" srcId="{D46297DC-9A29-46F0-A181-B9EEE3455AF2}" destId="{DB76E8C2-B7F2-4FB4-AC21-FD6BA44F64E6}" srcOrd="2" destOrd="0" presId="urn:microsoft.com/office/officeart/2018/2/layout/IconCircleList"/>
    <dgm:cxn modelId="{3A4308DB-70C1-4DB6-909A-F12685948D78}" type="presParOf" srcId="{D46297DC-9A29-46F0-A181-B9EEE3455AF2}" destId="{447FBB38-FC3B-4EA8-A7ED-6E02F41B9C33}" srcOrd="3" destOrd="0" presId="urn:microsoft.com/office/officeart/2018/2/layout/IconCircleList"/>
    <dgm:cxn modelId="{F5D89529-041C-4ED4-B81C-AE23C160BACA}" type="presParOf" srcId="{1607CE6E-BA30-4F10-BA6E-36B9F5035787}" destId="{A9B1DB09-3CC2-4AC3-B786-72BFC16599C2}" srcOrd="3" destOrd="0" presId="urn:microsoft.com/office/officeart/2018/2/layout/IconCircleList"/>
    <dgm:cxn modelId="{B96DAF36-AA20-44ED-8F8C-7308284B44A6}" type="presParOf" srcId="{1607CE6E-BA30-4F10-BA6E-36B9F5035787}" destId="{38DC7208-E3B6-471A-854F-CCA572D73041}" srcOrd="4" destOrd="0" presId="urn:microsoft.com/office/officeart/2018/2/layout/IconCircleList"/>
    <dgm:cxn modelId="{9930B4CC-5BDB-41DE-8E36-FAC2942990D7}" type="presParOf" srcId="{38DC7208-E3B6-471A-854F-CCA572D73041}" destId="{A737A41C-6619-4D3A-A386-09CAA0D0FF7D}" srcOrd="0" destOrd="0" presId="urn:microsoft.com/office/officeart/2018/2/layout/IconCircleList"/>
    <dgm:cxn modelId="{7A33E35D-ACB8-4851-ABFA-CBADCC44AA83}" type="presParOf" srcId="{38DC7208-E3B6-471A-854F-CCA572D73041}" destId="{7ACE5CCF-558C-47A4-8F5D-05D7A83B3926}" srcOrd="1" destOrd="0" presId="urn:microsoft.com/office/officeart/2018/2/layout/IconCircleList"/>
    <dgm:cxn modelId="{5DBB3176-44BC-4354-8421-11DDE60EECBE}" type="presParOf" srcId="{38DC7208-E3B6-471A-854F-CCA572D73041}" destId="{43E74479-13DF-4B66-890C-900D6A18FEF5}" srcOrd="2" destOrd="0" presId="urn:microsoft.com/office/officeart/2018/2/layout/IconCircleList"/>
    <dgm:cxn modelId="{EAA83AA1-19C8-4B48-BBE4-0002B5DE5EC3}" type="presParOf" srcId="{38DC7208-E3B6-471A-854F-CCA572D73041}" destId="{084852CA-D1AA-4143-9ED6-602CBC08D576}" srcOrd="3" destOrd="0" presId="urn:microsoft.com/office/officeart/2018/2/layout/IconCircleList"/>
    <dgm:cxn modelId="{158E83F4-2556-4CB6-9101-0FCF204694FA}" type="presParOf" srcId="{1607CE6E-BA30-4F10-BA6E-36B9F5035787}" destId="{6FF7D2C7-17CA-4B0C-98C3-C0AD3564F18D}" srcOrd="5" destOrd="0" presId="urn:microsoft.com/office/officeart/2018/2/layout/IconCircleList"/>
    <dgm:cxn modelId="{DC64CCE7-FF5F-4741-8716-56D81AB82123}" type="presParOf" srcId="{1607CE6E-BA30-4F10-BA6E-36B9F5035787}" destId="{A5EFD21C-2B92-4BB0-ABA2-ABF693CDAB19}" srcOrd="6" destOrd="0" presId="urn:microsoft.com/office/officeart/2018/2/layout/IconCircleList"/>
    <dgm:cxn modelId="{E4DED692-F392-431D-BDEC-360A3BC914BB}" type="presParOf" srcId="{A5EFD21C-2B92-4BB0-ABA2-ABF693CDAB19}" destId="{280A4D25-42BE-4BB8-9839-E8DBE6343C4D}" srcOrd="0" destOrd="0" presId="urn:microsoft.com/office/officeart/2018/2/layout/IconCircleList"/>
    <dgm:cxn modelId="{8ED97EC9-194C-4838-AC8B-02AF782878DD}" type="presParOf" srcId="{A5EFD21C-2B92-4BB0-ABA2-ABF693CDAB19}" destId="{644794D0-2911-4CA1-9D76-55DAE2867EAB}" srcOrd="1" destOrd="0" presId="urn:microsoft.com/office/officeart/2018/2/layout/IconCircleList"/>
    <dgm:cxn modelId="{52251E18-D511-4620-A839-0AC20CA8E14E}" type="presParOf" srcId="{A5EFD21C-2B92-4BB0-ABA2-ABF693CDAB19}" destId="{52B11220-6C5E-4B96-975C-56C8DDE45E8D}" srcOrd="2" destOrd="0" presId="urn:microsoft.com/office/officeart/2018/2/layout/IconCircleList"/>
    <dgm:cxn modelId="{48D64C54-1808-406B-8331-61EF24D02220}" type="presParOf" srcId="{A5EFD21C-2B92-4BB0-ABA2-ABF693CDAB19}" destId="{F7FB4246-FB11-4CE6-9AA5-1524805999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8429F4-CE21-4608-A016-314D40C18F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9BAFAF-E5D8-48DE-9842-8F3FD1151A41}">
      <dgm:prSet/>
      <dgm:spPr/>
      <dgm:t>
        <a:bodyPr/>
        <a:lstStyle/>
        <a:p>
          <a:r>
            <a:rPr lang="en-US"/>
            <a:t>📘 </a:t>
          </a:r>
          <a:r>
            <a:rPr lang="en-US" b="1"/>
            <a:t>Methodology Overview</a:t>
          </a:r>
          <a:endParaRPr lang="en-US"/>
        </a:p>
      </dgm:t>
    </dgm:pt>
    <dgm:pt modelId="{6270B9DE-C6AE-4E9F-B34F-F49EF4C30F46}" type="parTrans" cxnId="{6005D69C-92E1-49F6-A281-A01560780503}">
      <dgm:prSet/>
      <dgm:spPr/>
      <dgm:t>
        <a:bodyPr/>
        <a:lstStyle/>
        <a:p>
          <a:endParaRPr lang="en-US"/>
        </a:p>
      </dgm:t>
    </dgm:pt>
    <dgm:pt modelId="{EAC5FD04-B7FF-45ED-A081-12DF17D1C517}" type="sibTrans" cxnId="{6005D69C-92E1-49F6-A281-A01560780503}">
      <dgm:prSet/>
      <dgm:spPr/>
      <dgm:t>
        <a:bodyPr/>
        <a:lstStyle/>
        <a:p>
          <a:endParaRPr lang="en-US"/>
        </a:p>
      </dgm:t>
    </dgm:pt>
    <dgm:pt modelId="{CACF0D14-9859-48DE-9D70-2FC2263942DB}">
      <dgm:prSet/>
      <dgm:spPr/>
      <dgm:t>
        <a:bodyPr/>
        <a:lstStyle/>
        <a:p>
          <a:r>
            <a:rPr lang="en-US"/>
            <a:t>Built upon the feature engineering detailed in </a:t>
          </a:r>
          <a:r>
            <a:rPr lang="en-US" b="1"/>
            <a:t>Slide 3</a:t>
          </a:r>
          <a:r>
            <a:rPr lang="en-US"/>
            <a:t>.</a:t>
          </a:r>
        </a:p>
      </dgm:t>
    </dgm:pt>
    <dgm:pt modelId="{4ED9854A-7FC8-4788-BE94-32A386D4DD01}" type="parTrans" cxnId="{93D01ABB-A658-4523-89F9-CBA6ED26647F}">
      <dgm:prSet/>
      <dgm:spPr/>
      <dgm:t>
        <a:bodyPr/>
        <a:lstStyle/>
        <a:p>
          <a:endParaRPr lang="en-US"/>
        </a:p>
      </dgm:t>
    </dgm:pt>
    <dgm:pt modelId="{811ABB13-EEA9-41DA-9F26-E4E9238B7BA2}" type="sibTrans" cxnId="{93D01ABB-A658-4523-89F9-CBA6ED26647F}">
      <dgm:prSet/>
      <dgm:spPr/>
      <dgm:t>
        <a:bodyPr/>
        <a:lstStyle/>
        <a:p>
          <a:endParaRPr lang="en-US"/>
        </a:p>
      </dgm:t>
    </dgm:pt>
    <dgm:pt modelId="{3940FCE1-8109-437E-9829-71EE840BD5CE}">
      <dgm:prSet/>
      <dgm:spPr/>
      <dgm:t>
        <a:bodyPr/>
        <a:lstStyle/>
        <a:p>
          <a:r>
            <a:rPr lang="en-US"/>
            <a:t>Applied </a:t>
          </a:r>
          <a:r>
            <a:rPr lang="en-US" b="1"/>
            <a:t>GridSearchCV</a:t>
          </a:r>
          <a:r>
            <a:rPr lang="en-US"/>
            <a:t> for systematic </a:t>
          </a:r>
          <a:r>
            <a:rPr lang="en-US" b="1"/>
            <a:t>hyperparameter tuning</a:t>
          </a:r>
          <a:r>
            <a:rPr lang="en-US"/>
            <a:t> and </a:t>
          </a:r>
          <a:r>
            <a:rPr lang="en-US" b="1"/>
            <a:t>model selection</a:t>
          </a:r>
          <a:r>
            <a:rPr lang="en-US"/>
            <a:t>.</a:t>
          </a:r>
        </a:p>
      </dgm:t>
    </dgm:pt>
    <dgm:pt modelId="{C74BEABE-13A6-48F8-839D-251A60E2BD1F}" type="parTrans" cxnId="{F29C10CA-75B0-4507-99BC-AE4A30001990}">
      <dgm:prSet/>
      <dgm:spPr/>
      <dgm:t>
        <a:bodyPr/>
        <a:lstStyle/>
        <a:p>
          <a:endParaRPr lang="en-US"/>
        </a:p>
      </dgm:t>
    </dgm:pt>
    <dgm:pt modelId="{AD0C948D-19DD-4327-B3D6-6ED978FE614B}" type="sibTrans" cxnId="{F29C10CA-75B0-4507-99BC-AE4A30001990}">
      <dgm:prSet/>
      <dgm:spPr/>
      <dgm:t>
        <a:bodyPr/>
        <a:lstStyle/>
        <a:p>
          <a:endParaRPr lang="en-US"/>
        </a:p>
      </dgm:t>
    </dgm:pt>
    <dgm:pt modelId="{37A76C44-BA36-4E4D-950D-FC1B9FB3C196}">
      <dgm:prSet/>
      <dgm:spPr/>
      <dgm:t>
        <a:bodyPr/>
        <a:lstStyle/>
        <a:p>
          <a:r>
            <a:rPr lang="en-US"/>
            <a:t>📊 </a:t>
          </a:r>
          <a:r>
            <a:rPr lang="en-US" b="1"/>
            <a:t>Data Split Strategy</a:t>
          </a:r>
          <a:endParaRPr lang="en-US"/>
        </a:p>
      </dgm:t>
    </dgm:pt>
    <dgm:pt modelId="{ECE97C26-F8B8-48F0-9337-86DAD5A98C98}" type="parTrans" cxnId="{074C870B-CD31-4530-997E-2964DBAF492F}">
      <dgm:prSet/>
      <dgm:spPr/>
      <dgm:t>
        <a:bodyPr/>
        <a:lstStyle/>
        <a:p>
          <a:endParaRPr lang="en-US"/>
        </a:p>
      </dgm:t>
    </dgm:pt>
    <dgm:pt modelId="{2DE8F0E4-EBDA-4722-B952-365629B3F10A}" type="sibTrans" cxnId="{074C870B-CD31-4530-997E-2964DBAF492F}">
      <dgm:prSet/>
      <dgm:spPr/>
      <dgm:t>
        <a:bodyPr/>
        <a:lstStyle/>
        <a:p>
          <a:endParaRPr lang="en-US"/>
        </a:p>
      </dgm:t>
    </dgm:pt>
    <dgm:pt modelId="{16AEA733-9419-4303-ABAB-DB5F6F66F690}">
      <dgm:prSet/>
      <dgm:spPr/>
      <dgm:t>
        <a:bodyPr/>
        <a:lstStyle/>
        <a:p>
          <a:r>
            <a:rPr lang="en-US" b="1"/>
            <a:t>Training Set:</a:t>
          </a:r>
          <a:r>
            <a:rPr lang="en-US"/>
            <a:t> Months </a:t>
          </a:r>
          <a:r>
            <a:rPr lang="en-US" b="1"/>
            <a:t>1–31</a:t>
          </a:r>
          <a:endParaRPr lang="en-US"/>
        </a:p>
      </dgm:t>
    </dgm:pt>
    <dgm:pt modelId="{B2F644EE-F7AC-4AE9-80BD-46171D1CBD6C}" type="parTrans" cxnId="{BEC372BA-B244-4E23-87CA-EE0E0F881A05}">
      <dgm:prSet/>
      <dgm:spPr/>
      <dgm:t>
        <a:bodyPr/>
        <a:lstStyle/>
        <a:p>
          <a:endParaRPr lang="en-US"/>
        </a:p>
      </dgm:t>
    </dgm:pt>
    <dgm:pt modelId="{5C9E6C58-38A9-4E14-95A0-22725DF2BD16}" type="sibTrans" cxnId="{BEC372BA-B244-4E23-87CA-EE0E0F881A05}">
      <dgm:prSet/>
      <dgm:spPr/>
      <dgm:t>
        <a:bodyPr/>
        <a:lstStyle/>
        <a:p>
          <a:endParaRPr lang="en-US"/>
        </a:p>
      </dgm:t>
    </dgm:pt>
    <dgm:pt modelId="{8A3CD5B6-841B-4DDA-90CF-5F7FDE1FBF8A}">
      <dgm:prSet/>
      <dgm:spPr/>
      <dgm:t>
        <a:bodyPr/>
        <a:lstStyle/>
        <a:p>
          <a:r>
            <a:rPr lang="en-US" b="1"/>
            <a:t>Validation Set:</a:t>
          </a:r>
          <a:r>
            <a:rPr lang="en-US"/>
            <a:t> Months </a:t>
          </a:r>
          <a:r>
            <a:rPr lang="en-US" b="1"/>
            <a:t>32–33</a:t>
          </a:r>
          <a:endParaRPr lang="en-US"/>
        </a:p>
      </dgm:t>
    </dgm:pt>
    <dgm:pt modelId="{A386F74D-AD9A-4A8B-A460-FDA4B61A1C43}" type="parTrans" cxnId="{8E0587C1-559D-4301-B537-0F3D1435F99B}">
      <dgm:prSet/>
      <dgm:spPr/>
      <dgm:t>
        <a:bodyPr/>
        <a:lstStyle/>
        <a:p>
          <a:endParaRPr lang="en-US"/>
        </a:p>
      </dgm:t>
    </dgm:pt>
    <dgm:pt modelId="{E9ABA6B5-F989-4709-8D20-F90A2D729181}" type="sibTrans" cxnId="{8E0587C1-559D-4301-B537-0F3D1435F99B}">
      <dgm:prSet/>
      <dgm:spPr/>
      <dgm:t>
        <a:bodyPr/>
        <a:lstStyle/>
        <a:p>
          <a:endParaRPr lang="en-US"/>
        </a:p>
      </dgm:t>
    </dgm:pt>
    <dgm:pt modelId="{259161F3-16DB-4049-B27E-EC83F619AF72}">
      <dgm:prSet/>
      <dgm:spPr/>
      <dgm:t>
        <a:bodyPr/>
        <a:lstStyle/>
        <a:p>
          <a:r>
            <a:rPr lang="en-US" b="1"/>
            <a:t>Test Set:</a:t>
          </a:r>
          <a:r>
            <a:rPr lang="en-US"/>
            <a:t> Month </a:t>
          </a:r>
          <a:r>
            <a:rPr lang="en-US" b="1"/>
            <a:t>34</a:t>
          </a:r>
          <a:r>
            <a:rPr lang="en-US"/>
            <a:t> (held-out test data)</a:t>
          </a:r>
        </a:p>
      </dgm:t>
    </dgm:pt>
    <dgm:pt modelId="{E8065D15-8F78-475D-A8DF-F7B99EE3B61C}" type="parTrans" cxnId="{6BBA4FF9-2542-4B25-9110-D050C82E22DE}">
      <dgm:prSet/>
      <dgm:spPr/>
      <dgm:t>
        <a:bodyPr/>
        <a:lstStyle/>
        <a:p>
          <a:endParaRPr lang="en-US"/>
        </a:p>
      </dgm:t>
    </dgm:pt>
    <dgm:pt modelId="{0DCE8323-5500-47F9-910B-8BB3EE986F03}" type="sibTrans" cxnId="{6BBA4FF9-2542-4B25-9110-D050C82E22DE}">
      <dgm:prSet/>
      <dgm:spPr/>
      <dgm:t>
        <a:bodyPr/>
        <a:lstStyle/>
        <a:p>
          <a:endParaRPr lang="en-US"/>
        </a:p>
      </dgm:t>
    </dgm:pt>
    <dgm:pt modelId="{B1EC4EBD-5773-4C3F-A505-4D112B890BAE}">
      <dgm:prSet/>
      <dgm:spPr/>
      <dgm:t>
        <a:bodyPr/>
        <a:lstStyle/>
        <a:p>
          <a:r>
            <a:rPr lang="en-US"/>
            <a:t>📈 </a:t>
          </a:r>
          <a:r>
            <a:rPr lang="en-US" b="1"/>
            <a:t>Evaluation Metric</a:t>
          </a:r>
          <a:endParaRPr lang="en-US"/>
        </a:p>
      </dgm:t>
    </dgm:pt>
    <dgm:pt modelId="{C22A4DF4-7992-4434-A8CC-881969794393}" type="parTrans" cxnId="{D0D240B4-AF57-454C-8803-D990FDD3C7C6}">
      <dgm:prSet/>
      <dgm:spPr/>
      <dgm:t>
        <a:bodyPr/>
        <a:lstStyle/>
        <a:p>
          <a:endParaRPr lang="en-US"/>
        </a:p>
      </dgm:t>
    </dgm:pt>
    <dgm:pt modelId="{EEFBC6FD-160B-4CCB-96D2-3DE110646625}" type="sibTrans" cxnId="{D0D240B4-AF57-454C-8803-D990FDD3C7C6}">
      <dgm:prSet/>
      <dgm:spPr/>
      <dgm:t>
        <a:bodyPr/>
        <a:lstStyle/>
        <a:p>
          <a:endParaRPr lang="en-US"/>
        </a:p>
      </dgm:t>
    </dgm:pt>
    <dgm:pt modelId="{5C43380F-6A03-448A-9099-CDFA2434D640}">
      <dgm:prSet/>
      <dgm:spPr/>
      <dgm:t>
        <a:bodyPr/>
        <a:lstStyle/>
        <a:p>
          <a:r>
            <a:rPr lang="en-US"/>
            <a:t>Used </a:t>
          </a:r>
          <a:r>
            <a:rPr lang="en-US" b="1"/>
            <a:t>Root Mean Square Error (RMSE)</a:t>
          </a:r>
          <a:r>
            <a:rPr lang="en-US"/>
            <a:t> to measure and compare model performance across all experiments.</a:t>
          </a:r>
        </a:p>
      </dgm:t>
    </dgm:pt>
    <dgm:pt modelId="{B5893434-10BD-4AA5-8915-FEFF4583D94B}" type="parTrans" cxnId="{AD5DE3AD-C5CC-4DBC-BE2C-3F51BC27C149}">
      <dgm:prSet/>
      <dgm:spPr/>
      <dgm:t>
        <a:bodyPr/>
        <a:lstStyle/>
        <a:p>
          <a:endParaRPr lang="en-US"/>
        </a:p>
      </dgm:t>
    </dgm:pt>
    <dgm:pt modelId="{2D7B5289-2375-4937-85B2-7E792C4D1F6E}" type="sibTrans" cxnId="{AD5DE3AD-C5CC-4DBC-BE2C-3F51BC27C149}">
      <dgm:prSet/>
      <dgm:spPr/>
      <dgm:t>
        <a:bodyPr/>
        <a:lstStyle/>
        <a:p>
          <a:endParaRPr lang="en-US"/>
        </a:p>
      </dgm:t>
    </dgm:pt>
    <dgm:pt modelId="{1CD115D9-E1D8-1A43-B1F6-A059B9C60092}" type="pres">
      <dgm:prSet presAssocID="{578429F4-CE21-4608-A016-314D40C18F3E}" presName="Name0" presStyleCnt="0">
        <dgm:presLayoutVars>
          <dgm:dir/>
          <dgm:animLvl val="lvl"/>
          <dgm:resizeHandles val="exact"/>
        </dgm:presLayoutVars>
      </dgm:prSet>
      <dgm:spPr/>
    </dgm:pt>
    <dgm:pt modelId="{058F1BB1-655E-B94E-B193-9BD31227FE96}" type="pres">
      <dgm:prSet presAssocID="{9E9BAFAF-E5D8-48DE-9842-8F3FD1151A41}" presName="composite" presStyleCnt="0"/>
      <dgm:spPr/>
    </dgm:pt>
    <dgm:pt modelId="{343CE820-E934-2949-8AC4-D2B9390DB056}" type="pres">
      <dgm:prSet presAssocID="{9E9BAFAF-E5D8-48DE-9842-8F3FD1151A4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4B82348-AE47-8E41-B60C-1BB6C4AC9516}" type="pres">
      <dgm:prSet presAssocID="{9E9BAFAF-E5D8-48DE-9842-8F3FD1151A41}" presName="desTx" presStyleLbl="alignAccFollowNode1" presStyleIdx="0" presStyleCnt="3">
        <dgm:presLayoutVars>
          <dgm:bulletEnabled val="1"/>
        </dgm:presLayoutVars>
      </dgm:prSet>
      <dgm:spPr/>
    </dgm:pt>
    <dgm:pt modelId="{B4C43C78-539D-4D4C-ACF9-BD949C8411A7}" type="pres">
      <dgm:prSet presAssocID="{EAC5FD04-B7FF-45ED-A081-12DF17D1C517}" presName="space" presStyleCnt="0"/>
      <dgm:spPr/>
    </dgm:pt>
    <dgm:pt modelId="{1BD1B575-9A65-914C-942B-4F0C7E5FF438}" type="pres">
      <dgm:prSet presAssocID="{37A76C44-BA36-4E4D-950D-FC1B9FB3C196}" presName="composite" presStyleCnt="0"/>
      <dgm:spPr/>
    </dgm:pt>
    <dgm:pt modelId="{2F3F8A8A-0F69-4A46-9FDC-5F307F318E5D}" type="pres">
      <dgm:prSet presAssocID="{37A76C44-BA36-4E4D-950D-FC1B9FB3C19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8D5B0E5-0273-A84D-AFDF-7E8396D65F79}" type="pres">
      <dgm:prSet presAssocID="{37A76C44-BA36-4E4D-950D-FC1B9FB3C196}" presName="desTx" presStyleLbl="alignAccFollowNode1" presStyleIdx="1" presStyleCnt="3">
        <dgm:presLayoutVars>
          <dgm:bulletEnabled val="1"/>
        </dgm:presLayoutVars>
      </dgm:prSet>
      <dgm:spPr/>
    </dgm:pt>
    <dgm:pt modelId="{FE85B9D4-B95C-7444-B327-14726606DE25}" type="pres">
      <dgm:prSet presAssocID="{2DE8F0E4-EBDA-4722-B952-365629B3F10A}" presName="space" presStyleCnt="0"/>
      <dgm:spPr/>
    </dgm:pt>
    <dgm:pt modelId="{1B82B627-0152-8C41-9642-35D4EE124993}" type="pres">
      <dgm:prSet presAssocID="{B1EC4EBD-5773-4C3F-A505-4D112B890BAE}" presName="composite" presStyleCnt="0"/>
      <dgm:spPr/>
    </dgm:pt>
    <dgm:pt modelId="{893D2C2F-EEDF-8E43-B17F-0A5DFDC0263F}" type="pres">
      <dgm:prSet presAssocID="{B1EC4EBD-5773-4C3F-A505-4D112B890BA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E049C68-EE1B-0A48-9383-E519A7093C37}" type="pres">
      <dgm:prSet presAssocID="{B1EC4EBD-5773-4C3F-A505-4D112B890BA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74C870B-CD31-4530-997E-2964DBAF492F}" srcId="{578429F4-CE21-4608-A016-314D40C18F3E}" destId="{37A76C44-BA36-4E4D-950D-FC1B9FB3C196}" srcOrd="1" destOrd="0" parTransId="{ECE97C26-F8B8-48F0-9337-86DAD5A98C98}" sibTransId="{2DE8F0E4-EBDA-4722-B952-365629B3F10A}"/>
    <dgm:cxn modelId="{50378A33-2EC9-0E4B-A800-98DD7AD60222}" type="presOf" srcId="{9E9BAFAF-E5D8-48DE-9842-8F3FD1151A41}" destId="{343CE820-E934-2949-8AC4-D2B9390DB056}" srcOrd="0" destOrd="0" presId="urn:microsoft.com/office/officeart/2005/8/layout/hList1"/>
    <dgm:cxn modelId="{9C869D41-D979-7645-BD23-0DF54F1F7CC8}" type="presOf" srcId="{8A3CD5B6-841B-4DDA-90CF-5F7FDE1FBF8A}" destId="{08D5B0E5-0273-A84D-AFDF-7E8396D65F79}" srcOrd="0" destOrd="1" presId="urn:microsoft.com/office/officeart/2005/8/layout/hList1"/>
    <dgm:cxn modelId="{08EA4679-AAC6-5645-97FE-06396E25B5AF}" type="presOf" srcId="{B1EC4EBD-5773-4C3F-A505-4D112B890BAE}" destId="{893D2C2F-EEDF-8E43-B17F-0A5DFDC0263F}" srcOrd="0" destOrd="0" presId="urn:microsoft.com/office/officeart/2005/8/layout/hList1"/>
    <dgm:cxn modelId="{64E8667D-FDF6-3D4B-990A-00C578589F55}" type="presOf" srcId="{578429F4-CE21-4608-A016-314D40C18F3E}" destId="{1CD115D9-E1D8-1A43-B1F6-A059B9C60092}" srcOrd="0" destOrd="0" presId="urn:microsoft.com/office/officeart/2005/8/layout/hList1"/>
    <dgm:cxn modelId="{8CACA98E-9351-E443-9FEE-D882F5598820}" type="presOf" srcId="{5C43380F-6A03-448A-9099-CDFA2434D640}" destId="{0E049C68-EE1B-0A48-9383-E519A7093C37}" srcOrd="0" destOrd="0" presId="urn:microsoft.com/office/officeart/2005/8/layout/hList1"/>
    <dgm:cxn modelId="{E935239C-1C2F-0B44-8A65-0F0B2C10F478}" type="presOf" srcId="{16AEA733-9419-4303-ABAB-DB5F6F66F690}" destId="{08D5B0E5-0273-A84D-AFDF-7E8396D65F79}" srcOrd="0" destOrd="0" presId="urn:microsoft.com/office/officeart/2005/8/layout/hList1"/>
    <dgm:cxn modelId="{6005D69C-92E1-49F6-A281-A01560780503}" srcId="{578429F4-CE21-4608-A016-314D40C18F3E}" destId="{9E9BAFAF-E5D8-48DE-9842-8F3FD1151A41}" srcOrd="0" destOrd="0" parTransId="{6270B9DE-C6AE-4E9F-B34F-F49EF4C30F46}" sibTransId="{EAC5FD04-B7FF-45ED-A081-12DF17D1C517}"/>
    <dgm:cxn modelId="{479664A2-65A1-2940-974B-4AB88DD99E48}" type="presOf" srcId="{CACF0D14-9859-48DE-9D70-2FC2263942DB}" destId="{24B82348-AE47-8E41-B60C-1BB6C4AC9516}" srcOrd="0" destOrd="0" presId="urn:microsoft.com/office/officeart/2005/8/layout/hList1"/>
    <dgm:cxn modelId="{AD5DE3AD-C5CC-4DBC-BE2C-3F51BC27C149}" srcId="{B1EC4EBD-5773-4C3F-A505-4D112B890BAE}" destId="{5C43380F-6A03-448A-9099-CDFA2434D640}" srcOrd="0" destOrd="0" parTransId="{B5893434-10BD-4AA5-8915-FEFF4583D94B}" sibTransId="{2D7B5289-2375-4937-85B2-7E792C4D1F6E}"/>
    <dgm:cxn modelId="{D0D240B4-AF57-454C-8803-D990FDD3C7C6}" srcId="{578429F4-CE21-4608-A016-314D40C18F3E}" destId="{B1EC4EBD-5773-4C3F-A505-4D112B890BAE}" srcOrd="2" destOrd="0" parTransId="{C22A4DF4-7992-4434-A8CC-881969794393}" sibTransId="{EEFBC6FD-160B-4CCB-96D2-3DE110646625}"/>
    <dgm:cxn modelId="{B449CBB8-F32C-4C47-AF99-1EB2CB822163}" type="presOf" srcId="{37A76C44-BA36-4E4D-950D-FC1B9FB3C196}" destId="{2F3F8A8A-0F69-4A46-9FDC-5F307F318E5D}" srcOrd="0" destOrd="0" presId="urn:microsoft.com/office/officeart/2005/8/layout/hList1"/>
    <dgm:cxn modelId="{3479CFB9-73E0-1844-ACEA-D9A65E0961C3}" type="presOf" srcId="{3940FCE1-8109-437E-9829-71EE840BD5CE}" destId="{24B82348-AE47-8E41-B60C-1BB6C4AC9516}" srcOrd="0" destOrd="1" presId="urn:microsoft.com/office/officeart/2005/8/layout/hList1"/>
    <dgm:cxn modelId="{BEC372BA-B244-4E23-87CA-EE0E0F881A05}" srcId="{37A76C44-BA36-4E4D-950D-FC1B9FB3C196}" destId="{16AEA733-9419-4303-ABAB-DB5F6F66F690}" srcOrd="0" destOrd="0" parTransId="{B2F644EE-F7AC-4AE9-80BD-46171D1CBD6C}" sibTransId="{5C9E6C58-38A9-4E14-95A0-22725DF2BD16}"/>
    <dgm:cxn modelId="{93D01ABB-A658-4523-89F9-CBA6ED26647F}" srcId="{9E9BAFAF-E5D8-48DE-9842-8F3FD1151A41}" destId="{CACF0D14-9859-48DE-9D70-2FC2263942DB}" srcOrd="0" destOrd="0" parTransId="{4ED9854A-7FC8-4788-BE94-32A386D4DD01}" sibTransId="{811ABB13-EEA9-41DA-9F26-E4E9238B7BA2}"/>
    <dgm:cxn modelId="{8E0587C1-559D-4301-B537-0F3D1435F99B}" srcId="{37A76C44-BA36-4E4D-950D-FC1B9FB3C196}" destId="{8A3CD5B6-841B-4DDA-90CF-5F7FDE1FBF8A}" srcOrd="1" destOrd="0" parTransId="{A386F74D-AD9A-4A8B-A460-FDA4B61A1C43}" sibTransId="{E9ABA6B5-F989-4709-8D20-F90A2D729181}"/>
    <dgm:cxn modelId="{F29C10CA-75B0-4507-99BC-AE4A30001990}" srcId="{9E9BAFAF-E5D8-48DE-9842-8F3FD1151A41}" destId="{3940FCE1-8109-437E-9829-71EE840BD5CE}" srcOrd="1" destOrd="0" parTransId="{C74BEABE-13A6-48F8-839D-251A60E2BD1F}" sibTransId="{AD0C948D-19DD-4327-B3D6-6ED978FE614B}"/>
    <dgm:cxn modelId="{66EB0CDA-E381-944E-BFCA-381A8CBE1479}" type="presOf" srcId="{259161F3-16DB-4049-B27E-EC83F619AF72}" destId="{08D5B0E5-0273-A84D-AFDF-7E8396D65F79}" srcOrd="0" destOrd="2" presId="urn:microsoft.com/office/officeart/2005/8/layout/hList1"/>
    <dgm:cxn modelId="{6BBA4FF9-2542-4B25-9110-D050C82E22DE}" srcId="{37A76C44-BA36-4E4D-950D-FC1B9FB3C196}" destId="{259161F3-16DB-4049-B27E-EC83F619AF72}" srcOrd="2" destOrd="0" parTransId="{E8065D15-8F78-475D-A8DF-F7B99EE3B61C}" sibTransId="{0DCE8323-5500-47F9-910B-8BB3EE986F03}"/>
    <dgm:cxn modelId="{F9BED5A8-7EC4-CA4A-B4F9-DA5C53EEA9E0}" type="presParOf" srcId="{1CD115D9-E1D8-1A43-B1F6-A059B9C60092}" destId="{058F1BB1-655E-B94E-B193-9BD31227FE96}" srcOrd="0" destOrd="0" presId="urn:microsoft.com/office/officeart/2005/8/layout/hList1"/>
    <dgm:cxn modelId="{69B05594-BC3B-E347-A38B-0381880F2BCE}" type="presParOf" srcId="{058F1BB1-655E-B94E-B193-9BD31227FE96}" destId="{343CE820-E934-2949-8AC4-D2B9390DB056}" srcOrd="0" destOrd="0" presId="urn:microsoft.com/office/officeart/2005/8/layout/hList1"/>
    <dgm:cxn modelId="{9EC62147-BEEB-A542-9246-ED725DE03E25}" type="presParOf" srcId="{058F1BB1-655E-B94E-B193-9BD31227FE96}" destId="{24B82348-AE47-8E41-B60C-1BB6C4AC9516}" srcOrd="1" destOrd="0" presId="urn:microsoft.com/office/officeart/2005/8/layout/hList1"/>
    <dgm:cxn modelId="{7EAA9FC7-6020-F34E-BF86-C7113FA9C41D}" type="presParOf" srcId="{1CD115D9-E1D8-1A43-B1F6-A059B9C60092}" destId="{B4C43C78-539D-4D4C-ACF9-BD949C8411A7}" srcOrd="1" destOrd="0" presId="urn:microsoft.com/office/officeart/2005/8/layout/hList1"/>
    <dgm:cxn modelId="{CCB6744D-2EBB-3449-B69A-775D5CA4833E}" type="presParOf" srcId="{1CD115D9-E1D8-1A43-B1F6-A059B9C60092}" destId="{1BD1B575-9A65-914C-942B-4F0C7E5FF438}" srcOrd="2" destOrd="0" presId="urn:microsoft.com/office/officeart/2005/8/layout/hList1"/>
    <dgm:cxn modelId="{6F16AFD7-8B40-8442-80F9-803F51C3641B}" type="presParOf" srcId="{1BD1B575-9A65-914C-942B-4F0C7E5FF438}" destId="{2F3F8A8A-0F69-4A46-9FDC-5F307F318E5D}" srcOrd="0" destOrd="0" presId="urn:microsoft.com/office/officeart/2005/8/layout/hList1"/>
    <dgm:cxn modelId="{3F900B8D-7E1B-E748-80D0-01B5EAF2A067}" type="presParOf" srcId="{1BD1B575-9A65-914C-942B-4F0C7E5FF438}" destId="{08D5B0E5-0273-A84D-AFDF-7E8396D65F79}" srcOrd="1" destOrd="0" presId="urn:microsoft.com/office/officeart/2005/8/layout/hList1"/>
    <dgm:cxn modelId="{F3AC882C-8F21-4F4F-AF73-D2741E3A329B}" type="presParOf" srcId="{1CD115D9-E1D8-1A43-B1F6-A059B9C60092}" destId="{FE85B9D4-B95C-7444-B327-14726606DE25}" srcOrd="3" destOrd="0" presId="urn:microsoft.com/office/officeart/2005/8/layout/hList1"/>
    <dgm:cxn modelId="{BD040B34-6E20-2E49-A9E5-BC768A867D1D}" type="presParOf" srcId="{1CD115D9-E1D8-1A43-B1F6-A059B9C60092}" destId="{1B82B627-0152-8C41-9642-35D4EE124993}" srcOrd="4" destOrd="0" presId="urn:microsoft.com/office/officeart/2005/8/layout/hList1"/>
    <dgm:cxn modelId="{1A38CCE1-91A1-0C44-931B-D1208ADCFD9C}" type="presParOf" srcId="{1B82B627-0152-8C41-9642-35D4EE124993}" destId="{893D2C2F-EEDF-8E43-B17F-0A5DFDC0263F}" srcOrd="0" destOrd="0" presId="urn:microsoft.com/office/officeart/2005/8/layout/hList1"/>
    <dgm:cxn modelId="{4A8439C5-B1E4-4744-AA9D-A5EF1F9A8FE9}" type="presParOf" srcId="{1B82B627-0152-8C41-9642-35D4EE124993}" destId="{0E049C68-EE1B-0A48-9383-E519A7093C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DA1B2-CA8A-4002-AA8F-DC68A2EBCA5F}">
      <dsp:nvSpPr>
        <dsp:cNvPr id="0" name=""/>
        <dsp:cNvSpPr/>
      </dsp:nvSpPr>
      <dsp:spPr>
        <a:xfrm>
          <a:off x="672204" y="51424"/>
          <a:ext cx="1032570" cy="10325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ED4FA-4F89-4232-8859-53BEDD0EDBFD}">
      <dsp:nvSpPr>
        <dsp:cNvPr id="0" name=""/>
        <dsp:cNvSpPr/>
      </dsp:nvSpPr>
      <dsp:spPr>
        <a:xfrm>
          <a:off x="889044" y="268264"/>
          <a:ext cx="598890" cy="5988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D21E8-AE1E-477F-A3E1-DF2022E76891}">
      <dsp:nvSpPr>
        <dsp:cNvPr id="0" name=""/>
        <dsp:cNvSpPr/>
      </dsp:nvSpPr>
      <dsp:spPr>
        <a:xfrm>
          <a:off x="1926039" y="51424"/>
          <a:ext cx="2433915" cy="1032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Optimize Operations:</a:t>
          </a:r>
          <a:r>
            <a:rPr lang="en-US" sz="1900" kern="1200" dirty="0"/>
            <a:t> Streamline store operations &amp; inventory</a:t>
          </a:r>
        </a:p>
      </dsp:txBody>
      <dsp:txXfrm>
        <a:off x="1926039" y="51424"/>
        <a:ext cx="2433915" cy="1032570"/>
      </dsp:txXfrm>
    </dsp:sp>
    <dsp:sp modelId="{ADD1E6B2-53CC-4A70-8CD2-896403D2ECEF}">
      <dsp:nvSpPr>
        <dsp:cNvPr id="0" name=""/>
        <dsp:cNvSpPr/>
      </dsp:nvSpPr>
      <dsp:spPr>
        <a:xfrm>
          <a:off x="4784045" y="51424"/>
          <a:ext cx="1032570" cy="10325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0AFC4-0F7A-44BB-8A27-0589F48B4B34}">
      <dsp:nvSpPr>
        <dsp:cNvPr id="0" name=""/>
        <dsp:cNvSpPr/>
      </dsp:nvSpPr>
      <dsp:spPr>
        <a:xfrm>
          <a:off x="5000885" y="268264"/>
          <a:ext cx="598890" cy="5988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FBB38-FC3B-4EA8-A7ED-6E02F41B9C33}">
      <dsp:nvSpPr>
        <dsp:cNvPr id="0" name=""/>
        <dsp:cNvSpPr/>
      </dsp:nvSpPr>
      <dsp:spPr>
        <a:xfrm>
          <a:off x="6037880" y="51424"/>
          <a:ext cx="2433915" cy="1032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Focus on Winners:</a:t>
          </a:r>
          <a:r>
            <a:rPr lang="en-US" sz="1900" kern="1200" dirty="0"/>
            <a:t> Prioritize top-selling products/services</a:t>
          </a:r>
        </a:p>
      </dsp:txBody>
      <dsp:txXfrm>
        <a:off x="6037880" y="51424"/>
        <a:ext cx="2433915" cy="1032570"/>
      </dsp:txXfrm>
    </dsp:sp>
    <dsp:sp modelId="{A737A41C-6619-4D3A-A386-09CAA0D0FF7D}">
      <dsp:nvSpPr>
        <dsp:cNvPr id="0" name=""/>
        <dsp:cNvSpPr/>
      </dsp:nvSpPr>
      <dsp:spPr>
        <a:xfrm>
          <a:off x="672204" y="1528041"/>
          <a:ext cx="1032570" cy="10325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E5CCF-558C-47A4-8F5D-05D7A83B3926}">
      <dsp:nvSpPr>
        <dsp:cNvPr id="0" name=""/>
        <dsp:cNvSpPr/>
      </dsp:nvSpPr>
      <dsp:spPr>
        <a:xfrm>
          <a:off x="889044" y="1744880"/>
          <a:ext cx="598890" cy="5988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852CA-D1AA-4143-9ED6-602CBC08D576}">
      <dsp:nvSpPr>
        <dsp:cNvPr id="0" name=""/>
        <dsp:cNvSpPr/>
      </dsp:nvSpPr>
      <dsp:spPr>
        <a:xfrm>
          <a:off x="1926039" y="1528041"/>
          <a:ext cx="2433915" cy="1032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Smart Marketing:</a:t>
          </a:r>
          <a:r>
            <a:rPr lang="en-US" sz="1900" kern="1200" dirty="0"/>
            <a:t> Run targeted, effective campaigns</a:t>
          </a:r>
        </a:p>
      </dsp:txBody>
      <dsp:txXfrm>
        <a:off x="1926039" y="1528041"/>
        <a:ext cx="2433915" cy="1032570"/>
      </dsp:txXfrm>
    </dsp:sp>
    <dsp:sp modelId="{280A4D25-42BE-4BB8-9839-E8DBE6343C4D}">
      <dsp:nvSpPr>
        <dsp:cNvPr id="0" name=""/>
        <dsp:cNvSpPr/>
      </dsp:nvSpPr>
      <dsp:spPr>
        <a:xfrm>
          <a:off x="4784045" y="1528041"/>
          <a:ext cx="1032570" cy="10325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794D0-2911-4CA1-9D76-55DAE2867EAB}">
      <dsp:nvSpPr>
        <dsp:cNvPr id="0" name=""/>
        <dsp:cNvSpPr/>
      </dsp:nvSpPr>
      <dsp:spPr>
        <a:xfrm>
          <a:off x="5000885" y="1744880"/>
          <a:ext cx="598890" cy="5988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B4246-FB11-4CE6-9AA5-1524805999BE}">
      <dsp:nvSpPr>
        <dsp:cNvPr id="0" name=""/>
        <dsp:cNvSpPr/>
      </dsp:nvSpPr>
      <dsp:spPr>
        <a:xfrm>
          <a:off x="6037880" y="1528041"/>
          <a:ext cx="2433915" cy="1032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Right Staffing:</a:t>
          </a:r>
          <a:r>
            <a:rPr lang="en-US" sz="1900" kern="1200" dirty="0"/>
            <a:t> Ensure stores are optimally staffed</a:t>
          </a:r>
        </a:p>
      </dsp:txBody>
      <dsp:txXfrm>
        <a:off x="6037880" y="1528041"/>
        <a:ext cx="2433915" cy="1032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CE820-E934-2949-8AC4-D2B9390DB056}">
      <dsp:nvSpPr>
        <dsp:cNvPr id="0" name=""/>
        <dsp:cNvSpPr/>
      </dsp:nvSpPr>
      <dsp:spPr>
        <a:xfrm>
          <a:off x="3286" y="15715"/>
          <a:ext cx="3203971" cy="894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📘 </a:t>
          </a:r>
          <a:r>
            <a:rPr lang="en-US" sz="2400" b="1" kern="1200"/>
            <a:t>Methodology Overview</a:t>
          </a:r>
          <a:endParaRPr lang="en-US" sz="2400" kern="1200"/>
        </a:p>
      </dsp:txBody>
      <dsp:txXfrm>
        <a:off x="3286" y="15715"/>
        <a:ext cx="3203971" cy="894146"/>
      </dsp:txXfrm>
    </dsp:sp>
    <dsp:sp modelId="{24B82348-AE47-8E41-B60C-1BB6C4AC9516}">
      <dsp:nvSpPr>
        <dsp:cNvPr id="0" name=""/>
        <dsp:cNvSpPr/>
      </dsp:nvSpPr>
      <dsp:spPr>
        <a:xfrm>
          <a:off x="3286" y="909862"/>
          <a:ext cx="3203971" cy="3425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Built upon the feature engineering detailed in </a:t>
          </a:r>
          <a:r>
            <a:rPr lang="en-US" sz="2400" b="1" kern="1200"/>
            <a:t>Slide 3</a:t>
          </a:r>
          <a:r>
            <a:rPr lang="en-US" sz="2400" kern="1200"/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Applied </a:t>
          </a:r>
          <a:r>
            <a:rPr lang="en-US" sz="2400" b="1" kern="1200"/>
            <a:t>GridSearchCV</a:t>
          </a:r>
          <a:r>
            <a:rPr lang="en-US" sz="2400" kern="1200"/>
            <a:t> for systematic </a:t>
          </a:r>
          <a:r>
            <a:rPr lang="en-US" sz="2400" b="1" kern="1200"/>
            <a:t>hyperparameter tuning</a:t>
          </a:r>
          <a:r>
            <a:rPr lang="en-US" sz="2400" kern="1200"/>
            <a:t> and </a:t>
          </a:r>
          <a:r>
            <a:rPr lang="en-US" sz="2400" b="1" kern="1200"/>
            <a:t>model selection</a:t>
          </a:r>
          <a:r>
            <a:rPr lang="en-US" sz="2400" kern="1200"/>
            <a:t>.</a:t>
          </a:r>
        </a:p>
      </dsp:txBody>
      <dsp:txXfrm>
        <a:off x="3286" y="909862"/>
        <a:ext cx="3203971" cy="3425760"/>
      </dsp:txXfrm>
    </dsp:sp>
    <dsp:sp modelId="{2F3F8A8A-0F69-4A46-9FDC-5F307F318E5D}">
      <dsp:nvSpPr>
        <dsp:cNvPr id="0" name=""/>
        <dsp:cNvSpPr/>
      </dsp:nvSpPr>
      <dsp:spPr>
        <a:xfrm>
          <a:off x="3655814" y="15715"/>
          <a:ext cx="3203971" cy="894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📊 </a:t>
          </a:r>
          <a:r>
            <a:rPr lang="en-US" sz="2400" b="1" kern="1200"/>
            <a:t>Data Split Strategy</a:t>
          </a:r>
          <a:endParaRPr lang="en-US" sz="2400" kern="1200"/>
        </a:p>
      </dsp:txBody>
      <dsp:txXfrm>
        <a:off x="3655814" y="15715"/>
        <a:ext cx="3203971" cy="894146"/>
      </dsp:txXfrm>
    </dsp:sp>
    <dsp:sp modelId="{08D5B0E5-0273-A84D-AFDF-7E8396D65F79}">
      <dsp:nvSpPr>
        <dsp:cNvPr id="0" name=""/>
        <dsp:cNvSpPr/>
      </dsp:nvSpPr>
      <dsp:spPr>
        <a:xfrm>
          <a:off x="3655814" y="909862"/>
          <a:ext cx="3203971" cy="3425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Training Set:</a:t>
          </a:r>
          <a:r>
            <a:rPr lang="en-US" sz="2400" kern="1200"/>
            <a:t> Months </a:t>
          </a:r>
          <a:r>
            <a:rPr lang="en-US" sz="2400" b="1" kern="1200"/>
            <a:t>1–31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Validation Set:</a:t>
          </a:r>
          <a:r>
            <a:rPr lang="en-US" sz="2400" kern="1200"/>
            <a:t> Months </a:t>
          </a:r>
          <a:r>
            <a:rPr lang="en-US" sz="2400" b="1" kern="1200"/>
            <a:t>32–33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Test Set:</a:t>
          </a:r>
          <a:r>
            <a:rPr lang="en-US" sz="2400" kern="1200"/>
            <a:t> Month </a:t>
          </a:r>
          <a:r>
            <a:rPr lang="en-US" sz="2400" b="1" kern="1200"/>
            <a:t>34</a:t>
          </a:r>
          <a:r>
            <a:rPr lang="en-US" sz="2400" kern="1200"/>
            <a:t> (held-out test data)</a:t>
          </a:r>
        </a:p>
      </dsp:txBody>
      <dsp:txXfrm>
        <a:off x="3655814" y="909862"/>
        <a:ext cx="3203971" cy="3425760"/>
      </dsp:txXfrm>
    </dsp:sp>
    <dsp:sp modelId="{893D2C2F-EEDF-8E43-B17F-0A5DFDC0263F}">
      <dsp:nvSpPr>
        <dsp:cNvPr id="0" name=""/>
        <dsp:cNvSpPr/>
      </dsp:nvSpPr>
      <dsp:spPr>
        <a:xfrm>
          <a:off x="7308342" y="15715"/>
          <a:ext cx="3203971" cy="8941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📈 </a:t>
          </a:r>
          <a:r>
            <a:rPr lang="en-US" sz="2400" b="1" kern="1200"/>
            <a:t>Evaluation Metric</a:t>
          </a:r>
          <a:endParaRPr lang="en-US" sz="2400" kern="1200"/>
        </a:p>
      </dsp:txBody>
      <dsp:txXfrm>
        <a:off x="7308342" y="15715"/>
        <a:ext cx="3203971" cy="894146"/>
      </dsp:txXfrm>
    </dsp:sp>
    <dsp:sp modelId="{0E049C68-EE1B-0A48-9383-E519A7093C37}">
      <dsp:nvSpPr>
        <dsp:cNvPr id="0" name=""/>
        <dsp:cNvSpPr/>
      </dsp:nvSpPr>
      <dsp:spPr>
        <a:xfrm>
          <a:off x="7308342" y="909862"/>
          <a:ext cx="3203971" cy="3425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Used </a:t>
          </a:r>
          <a:r>
            <a:rPr lang="en-US" sz="2400" b="1" kern="1200"/>
            <a:t>Root Mean Square Error (RMSE)</a:t>
          </a:r>
          <a:r>
            <a:rPr lang="en-US" sz="2400" kern="1200"/>
            <a:t> to measure and compare model performance across all experiments.</a:t>
          </a:r>
        </a:p>
      </dsp:txBody>
      <dsp:txXfrm>
        <a:off x="7308342" y="909862"/>
        <a:ext cx="3203971" cy="342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5FCAD-218A-CA4D-947A-9B42C9A556E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8C7CD-D02A-F54A-8F0B-DD6E5E6D4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1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8C7CD-D02A-F54A-8F0B-DD6E5E6D4D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1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AA09-9A33-ED92-7DD4-5B7DA677E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FCA02-02A7-CA4D-6CD9-A7EC78E6B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B5AB-AC2B-1A1C-3DE8-6BB678B7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CD404-BC07-792F-9011-2655471C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0DE85-ED21-AFD1-2486-90739608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8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D802-9C58-25E9-B46B-6FD6B227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84413-95F1-71E4-95D0-B821B0ED3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7E355-8743-FCE3-B089-153DF459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CC580-8880-4A70-8551-CBA715EE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5036F-AFDB-4CCD-EBED-48ADDA09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3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17C0-2669-3A6B-47E8-96254D55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D9B46-5415-C878-11DD-6394E20E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1A39-906D-C87E-018F-7D92F4D4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8212-D369-0398-06D5-5A484594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BEC84-9761-99F1-306D-2209A3EA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7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A9BA-B565-DD62-C26C-A538ECAC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7515F-25BA-D9E4-ABAB-D86C64BEF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5126E-0CD9-66DB-17D2-C052A24AF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33709-6E5C-2FFA-F98B-6A327883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543E-0A2D-B319-0B1D-563FD027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6F2D1-7CCA-29D5-D337-B4F39ECD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BFC0-7ED1-030F-E60A-35D4C0DD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D5A18-7CC6-6F2F-5447-857540191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0A534-D12C-9D17-0A2E-B8D4A5E1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1E99E-D253-2BAC-6574-E7CA4C87A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FF827-AF0A-8F7B-C7F1-575A722E2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E274E-7844-A89D-3372-D2AEA58A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863EB-E33F-5AA9-3A0D-3E239872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4F888-7CC3-2E1B-4C83-5B4BC886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E903-BD07-0ADA-A6D6-E732751C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FE11F-F34A-3209-68D8-6AB36E6B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C859D-1523-7EDB-4ED8-1DDA9B5C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6FAC2-4C70-7A9F-6457-9AD7724A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3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37941-B2EE-82AD-B227-00ED34E7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5252D-F463-A620-A04D-7B12D065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CD3B9-1432-F6B6-67BF-BA1F4AC5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5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0DCA-F665-DE36-1257-B2E37B48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ACCF-9F13-C3C9-024F-42EA499F1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D1E4A-86A0-B29A-79E3-09EC83D36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A8557-7A35-B8B7-60C4-112AE42B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3CC33-ED9F-BA8E-A114-AE5FC915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C1C45-83B0-AE9F-99F0-CDDA46D4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C8C5-9E16-FC6B-3E5C-3B0884FB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EC6EF-190F-D23C-6286-C1CA1FCCD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3FB3E-1099-3F2F-94F2-CD8AD34F3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488E1-40E1-6A2C-96E3-B3163A88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BC93C-7A43-EFF4-7FCD-336068DA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B239-902D-F607-0C4E-DC1B66C6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3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1E47-295E-8566-FB05-D2EB5EB7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70810-5CE4-0E3D-152D-72BFA6E61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910A-9634-3C58-30E2-1CF95FD3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AC76-F470-848B-F688-0477B38D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DC50-F28F-DFBE-A142-A7CE111F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7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C93AE-B1C6-4068-215F-CE4BA87C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D4101-93E8-B793-473E-EF656AAA2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4C2F-AE4B-3237-3D23-6B57BF44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DF13F-836B-00B0-888A-DE58D009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3BD96-2A6F-5764-A3C7-2B950997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8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B4D72-CA6A-CC76-038D-34FB1588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86191-B21A-E883-A73C-FA876145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AB15E-C21E-B00A-252F-9FAD11930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CE547-2DFD-6748-9AF0-F07536C01A97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259B4-2C8F-6CAF-C2F0-504988ACE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EDA5-4710-CF9B-D6F4-C3AEECA5B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40C0C-DD75-2949-8D4A-DF8FF3E1D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2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B83A6-D09F-2050-C3B9-D3245F0D3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80107" y="6492875"/>
            <a:ext cx="1991712" cy="23061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  <a:reflection endPos="0" dir="5400000" sy="-100000" algn="bl" rotWithShape="0"/>
          </a:effec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6CA7A7C-639C-8DA4-3BC0-4D0A62D1620C}"/>
              </a:ext>
            </a:extLst>
          </p:cNvPr>
          <p:cNvSpPr txBox="1">
            <a:spLocks/>
          </p:cNvSpPr>
          <p:nvPr/>
        </p:nvSpPr>
        <p:spPr>
          <a:xfrm>
            <a:off x="1622474" y="3854064"/>
            <a:ext cx="9144000" cy="21276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Forecasting future sales for a retail store chain </a:t>
            </a:r>
          </a:p>
          <a:p>
            <a:pPr marL="0" indent="0" algn="ctr">
              <a:buNone/>
            </a:pPr>
            <a:r>
              <a:rPr lang="en-US" dirty="0"/>
              <a:t>Using</a:t>
            </a:r>
          </a:p>
          <a:p>
            <a:pPr marL="0" indent="0" algn="ctr">
              <a:buNone/>
            </a:pPr>
            <a:r>
              <a:rPr lang="en-US" dirty="0"/>
              <a:t>Machine Learning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- Shirish Wate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349D8-2128-240E-2D54-BC5C5574CA8D}"/>
              </a:ext>
            </a:extLst>
          </p:cNvPr>
          <p:cNvSpPr txBox="1"/>
          <p:nvPr/>
        </p:nvSpPr>
        <p:spPr>
          <a:xfrm>
            <a:off x="0" y="6488668"/>
            <a:ext cx="122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Oct 2025</a:t>
            </a:r>
          </a:p>
        </p:txBody>
      </p:sp>
      <p:pic>
        <p:nvPicPr>
          <p:cNvPr id="8" name="Picture 7" descr="A hand drawing a circuit board&#10;&#10;AI-generated content may be incorrect.">
            <a:extLst>
              <a:ext uri="{FF2B5EF4-FFF2-40B4-BE49-F238E27FC236}">
                <a16:creationId xmlns:a16="http://schemas.microsoft.com/office/drawing/2014/main" id="{B813E84E-78EA-0870-3471-E6AE77C22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50" y="598839"/>
            <a:ext cx="5010150" cy="28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16F8-FB4A-297A-84FC-5027C3C9D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80491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we solving?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03EE1-31A1-59B3-A4EA-0628D88D2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89308"/>
            <a:ext cx="9144000" cy="2039692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In the retail world, competition is fierce, and profitability is as important as quality of product and service. This means the following things matter: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Staying ahead of the competition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Optimizing store operation and inventory</a:t>
            </a:r>
          </a:p>
        </p:txBody>
      </p:sp>
      <p:graphicFrame>
        <p:nvGraphicFramePr>
          <p:cNvPr id="6" name="Subtitle 2">
            <a:extLst>
              <a:ext uri="{FF2B5EF4-FFF2-40B4-BE49-F238E27FC236}">
                <a16:creationId xmlns:a16="http://schemas.microsoft.com/office/drawing/2014/main" id="{70301EBE-27EA-31E7-1869-FD2DA3462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3255943"/>
              </p:ext>
            </p:extLst>
          </p:nvPr>
        </p:nvGraphicFramePr>
        <p:xfrm>
          <a:off x="1524000" y="3429000"/>
          <a:ext cx="9144000" cy="2612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142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46DC7-9832-3315-F568-75A9141F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Why does it matter?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5845-1C29-DAC9-3E6A-A3EF48BA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Due to lack of sales forecast</a:t>
            </a:r>
          </a:p>
          <a:p>
            <a:pPr marL="457200" lvl="1" indent="0">
              <a:buNone/>
            </a:pPr>
            <a:r>
              <a:rPr lang="en-US" sz="2200" dirty="0"/>
              <a:t>📦  Inventory may not match actual demand, leading to stockouts or overstock</a:t>
            </a:r>
          </a:p>
          <a:p>
            <a:pPr marL="457200" lvl="1" indent="0">
              <a:buNone/>
            </a:pPr>
            <a:r>
              <a:rPr lang="en-US" sz="2200" dirty="0"/>
              <a:t>👥  Staffing levels may be misaligned, causing overstaffing or understaffing</a:t>
            </a:r>
          </a:p>
          <a:p>
            <a:pPr marL="457200" lvl="1" indent="0">
              <a:buNone/>
            </a:pPr>
            <a:r>
              <a:rPr lang="en-US" sz="2200" dirty="0"/>
              <a:t>📢  Marketing campaigns may miss the market pulse and reduce effectiveness</a:t>
            </a:r>
          </a:p>
          <a:p>
            <a:pPr marL="457200" lvl="1" indent="0">
              <a:buNone/>
            </a:pPr>
            <a:r>
              <a:rPr lang="en-US" sz="2200" dirty="0"/>
              <a:t>💰  Budget allocation becomes challenging and less efficient</a:t>
            </a:r>
          </a:p>
          <a:p>
            <a:pPr marL="457200" lvl="1" indent="0">
              <a:buNone/>
            </a:pPr>
            <a:r>
              <a:rPr lang="en-US" sz="2200" dirty="0"/>
              <a:t>📈  Future investment planning relies on guesswork instead of data</a:t>
            </a:r>
          </a:p>
          <a:p>
            <a:pPr marL="457200" lvl="1" indent="0">
              <a:buNone/>
            </a:pPr>
            <a:r>
              <a:rPr lang="en-US" sz="2200" dirty="0"/>
              <a:t>🏆  Staying competitive becomes difficult without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56649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2DA3B-F22B-2FB9-13CC-083267C0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What are the benefits?	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3694-43E9-8AA8-2CA5-3FF037AA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Accurate sales forecasting enables better planning across key business areas:</a:t>
            </a:r>
          </a:p>
          <a:p>
            <a:pPr lvl="1"/>
            <a:r>
              <a:rPr lang="en-US" sz="1700" b="1" dirty="0"/>
              <a:t>Inventory Management:</a:t>
            </a:r>
            <a:r>
              <a:rPr lang="en-US" sz="1700" dirty="0"/>
              <a:t> Ensure product availability aligns with demand</a:t>
            </a:r>
          </a:p>
          <a:p>
            <a:pPr lvl="1"/>
            <a:r>
              <a:rPr lang="en-US" sz="1700" b="1" dirty="0"/>
              <a:t>Workforce Planning:</a:t>
            </a:r>
            <a:r>
              <a:rPr lang="en-US" sz="1700" dirty="0"/>
              <a:t> Optimize store staffing levels</a:t>
            </a:r>
          </a:p>
          <a:p>
            <a:pPr lvl="1"/>
            <a:r>
              <a:rPr lang="en-US" sz="1700" b="1" dirty="0"/>
              <a:t>Budgeting:</a:t>
            </a:r>
            <a:r>
              <a:rPr lang="en-US" sz="1700" dirty="0"/>
              <a:t> Allocate financial resources efficiently</a:t>
            </a:r>
          </a:p>
          <a:p>
            <a:pPr lvl="1"/>
            <a:r>
              <a:rPr lang="en-US" sz="1700" b="1" dirty="0"/>
              <a:t>Growth Strategy:</a:t>
            </a:r>
            <a:r>
              <a:rPr lang="en-US" sz="1700" dirty="0"/>
              <a:t> Identify high-potential areas for expansion</a:t>
            </a:r>
          </a:p>
          <a:p>
            <a:pPr lvl="1"/>
            <a:r>
              <a:rPr lang="en-US" sz="1700" b="1" dirty="0"/>
              <a:t>Sales Targets:</a:t>
            </a:r>
            <a:r>
              <a:rPr lang="en-US" sz="1700" dirty="0"/>
              <a:t> Set realistic and achievable goals</a:t>
            </a:r>
          </a:p>
          <a:p>
            <a:pPr lvl="1"/>
            <a:r>
              <a:rPr lang="en-US" sz="1700" b="1" dirty="0"/>
              <a:t>Marketing Impact:</a:t>
            </a:r>
            <a:r>
              <a:rPr lang="en-US" sz="1700" dirty="0"/>
              <a:t> Evaluate campaign effectiveness</a:t>
            </a:r>
          </a:p>
          <a:p>
            <a:pPr lvl="1"/>
            <a:r>
              <a:rPr lang="en-US" sz="1700" b="1" dirty="0"/>
              <a:t>Financial Planning:</a:t>
            </a:r>
            <a:r>
              <a:rPr lang="en-US" sz="1700" dirty="0"/>
              <a:t> Manage cash flow and plan future investments</a:t>
            </a:r>
          </a:p>
          <a:p>
            <a:pPr lvl="1"/>
            <a:r>
              <a:rPr lang="en-US" sz="1700" b="1" dirty="0"/>
              <a:t>Investor Confidence:</a:t>
            </a:r>
            <a:r>
              <a:rPr lang="en-US" sz="1700" dirty="0"/>
              <a:t> Support funding and expansion decisions</a:t>
            </a:r>
          </a:p>
          <a:p>
            <a:pPr lvl="1"/>
            <a:r>
              <a:rPr lang="en-US" sz="1700" b="1" dirty="0"/>
              <a:t>Risk Mitigation:</a:t>
            </a:r>
            <a:r>
              <a:rPr lang="en-US" sz="1700" dirty="0"/>
              <a:t> Take proactive measures against sales decline</a:t>
            </a:r>
          </a:p>
          <a:p>
            <a:pPr lvl="1"/>
            <a:r>
              <a:rPr lang="en-US" sz="1700" b="1" dirty="0"/>
              <a:t>Customer Insights:</a:t>
            </a:r>
            <a:r>
              <a:rPr lang="en-US" sz="1700" dirty="0"/>
              <a:t> Understand trends, preferences, and competitive positioning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3373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DFC75-3C5C-D3B0-D7A2-0473626F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373817" cy="5431536"/>
          </a:xfrm>
        </p:spPr>
        <p:txBody>
          <a:bodyPr>
            <a:normAutofit/>
          </a:bodyPr>
          <a:lstStyle/>
          <a:p>
            <a:r>
              <a:rPr lang="en-US" sz="5400" dirty="0"/>
              <a:t>How we achieved this?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0AB60-4459-28F3-D0F3-02FBFD18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7" y="550047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🧹 </a:t>
            </a:r>
            <a:r>
              <a:rPr lang="en-US" sz="1900" b="1" dirty="0"/>
              <a:t>Data Preparation</a:t>
            </a:r>
            <a:endParaRPr lang="en-US" sz="1900" dirty="0"/>
          </a:p>
          <a:p>
            <a:pPr lvl="1"/>
            <a:r>
              <a:rPr lang="en-US" sz="1900" b="1" dirty="0"/>
              <a:t>Data cleanup</a:t>
            </a:r>
            <a:r>
              <a:rPr lang="en-US" sz="1900" dirty="0"/>
              <a:t>, integration, and visualization.</a:t>
            </a:r>
          </a:p>
          <a:p>
            <a:pPr lvl="1"/>
            <a:r>
              <a:rPr lang="en-US" sz="1900" dirty="0"/>
              <a:t>Created a </a:t>
            </a:r>
            <a:r>
              <a:rPr lang="en-US" sz="1900" b="1" dirty="0"/>
              <a:t>time-series matrix</a:t>
            </a:r>
            <a:r>
              <a:rPr lang="en-US" sz="1900" dirty="0"/>
              <a:t> to capture monthly trends.</a:t>
            </a:r>
          </a:p>
          <a:p>
            <a:pPr marL="0" indent="0">
              <a:buNone/>
            </a:pPr>
            <a:r>
              <a:rPr lang="en-US" sz="1900" dirty="0"/>
              <a:t>🧩 </a:t>
            </a:r>
            <a:r>
              <a:rPr lang="en-US" sz="1900" b="1" dirty="0"/>
              <a:t>Feature Engineering</a:t>
            </a:r>
            <a:endParaRPr lang="en-US" sz="1900" dirty="0"/>
          </a:p>
          <a:p>
            <a:pPr lvl="1"/>
            <a:r>
              <a:rPr lang="en-US" sz="1900" dirty="0"/>
              <a:t>Extracted hidden insights from existing features such as </a:t>
            </a:r>
            <a:r>
              <a:rPr lang="en-US" sz="1900" b="1" dirty="0"/>
              <a:t>city</a:t>
            </a:r>
            <a:r>
              <a:rPr lang="en-US" sz="1900" dirty="0"/>
              <a:t>, </a:t>
            </a:r>
            <a:r>
              <a:rPr lang="en-US" sz="1900" b="1" dirty="0"/>
              <a:t>category type</a:t>
            </a:r>
            <a:r>
              <a:rPr lang="en-US" sz="1900" dirty="0"/>
              <a:t>, </a:t>
            </a:r>
            <a:r>
              <a:rPr lang="en-US" sz="1900" b="1" dirty="0"/>
              <a:t>first sold month</a:t>
            </a:r>
            <a:r>
              <a:rPr lang="en-US" sz="1900" dirty="0"/>
              <a:t>, and </a:t>
            </a:r>
            <a:r>
              <a:rPr lang="en-US" sz="1900" b="1" dirty="0"/>
              <a:t>monthly transaction count</a:t>
            </a:r>
            <a:r>
              <a:rPr lang="en-US" sz="1900" dirty="0"/>
              <a:t>.</a:t>
            </a:r>
          </a:p>
          <a:p>
            <a:pPr lvl="1"/>
            <a:r>
              <a:rPr lang="en-US" sz="1900" dirty="0"/>
              <a:t>Added </a:t>
            </a:r>
            <a:r>
              <a:rPr lang="en-US" sz="1900" b="1" dirty="0"/>
              <a:t>lag variables</a:t>
            </a:r>
            <a:r>
              <a:rPr lang="en-US" sz="1900" dirty="0"/>
              <a:t> (e.g., previous 3 months’ sales).</a:t>
            </a:r>
          </a:p>
          <a:p>
            <a:pPr lvl="1"/>
            <a:r>
              <a:rPr lang="en-US" sz="1900" dirty="0"/>
              <a:t>Computed </a:t>
            </a:r>
            <a:r>
              <a:rPr lang="en-US" sz="1900" b="1" dirty="0"/>
              <a:t>aggregated metrics</a:t>
            </a:r>
            <a:r>
              <a:rPr lang="en-US" sz="1900" dirty="0"/>
              <a:t> (e.g., average sales per shop or item).</a:t>
            </a:r>
          </a:p>
          <a:p>
            <a:pPr marL="0" indent="0">
              <a:buNone/>
            </a:pPr>
            <a:r>
              <a:rPr lang="en-US" sz="1900" dirty="0"/>
              <a:t>🤖 </a:t>
            </a:r>
            <a:r>
              <a:rPr lang="en-US" sz="1900" b="1" dirty="0"/>
              <a:t>Modeling Techniques</a:t>
            </a:r>
            <a:endParaRPr lang="en-US" sz="1900" dirty="0"/>
          </a:p>
          <a:p>
            <a:pPr lvl="1"/>
            <a:r>
              <a:rPr lang="en-US" sz="1900" b="1" dirty="0"/>
              <a:t>Polynomial Regression</a:t>
            </a:r>
            <a:endParaRPr lang="en-US" sz="1900" dirty="0"/>
          </a:p>
          <a:p>
            <a:pPr lvl="1"/>
            <a:r>
              <a:rPr lang="en-US" sz="1900" b="1" dirty="0"/>
              <a:t>ARIMA</a:t>
            </a:r>
            <a:r>
              <a:rPr lang="en-US" sz="1900" dirty="0"/>
              <a:t> (Time-Series Model)</a:t>
            </a:r>
          </a:p>
          <a:p>
            <a:pPr lvl="1"/>
            <a:r>
              <a:rPr lang="en-US" sz="1900" b="1" dirty="0"/>
              <a:t>Ensemble Methods:</a:t>
            </a:r>
          </a:p>
          <a:p>
            <a:pPr lvl="2"/>
            <a:r>
              <a:rPr lang="en-US" sz="1900" dirty="0"/>
              <a:t> </a:t>
            </a:r>
            <a:r>
              <a:rPr lang="en-US" sz="1900" b="1" dirty="0" err="1"/>
              <a:t>XGBoost</a:t>
            </a:r>
            <a:r>
              <a:rPr lang="en-US" sz="1900" dirty="0"/>
              <a:t> and </a:t>
            </a:r>
            <a:r>
              <a:rPr lang="en-US" sz="1900" b="1" dirty="0" err="1"/>
              <a:t>LightGBM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057838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CF8B-E12B-1DC0-6EE0-E789BAE3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"/>
            <a:ext cx="10515600" cy="1325563"/>
          </a:xfrm>
        </p:spPr>
        <p:txBody>
          <a:bodyPr/>
          <a:lstStyle/>
          <a:p>
            <a:r>
              <a:rPr lang="en-US" dirty="0"/>
              <a:t>Data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B1C0-22C0-0074-BB32-AED41D11C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4566694"/>
            <a:ext cx="9334500" cy="1325563"/>
          </a:xfrm>
        </p:spPr>
        <p:txBody>
          <a:bodyPr>
            <a:normAutofit/>
          </a:bodyPr>
          <a:lstStyle/>
          <a:p>
            <a:r>
              <a:rPr lang="en-US" sz="2200" dirty="0"/>
              <a:t>There seems to be an overall declining trend in the number of items sold.</a:t>
            </a:r>
          </a:p>
          <a:p>
            <a:r>
              <a:rPr lang="en-US" sz="2200" dirty="0"/>
              <a:t>Sales volumes show noticeable spikes in certain months, likely corresponding to promotional activities or special events.</a:t>
            </a:r>
          </a:p>
        </p:txBody>
      </p:sp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952A9A88-2158-201D-7326-3B7A7C872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98" y="1043940"/>
            <a:ext cx="10568263" cy="352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6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3E9B-6DFC-13DC-ACD9-4076FC83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8D30-48FF-6EBD-F8E7-40147995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"/>
            <a:ext cx="10515600" cy="1169077"/>
          </a:xfrm>
        </p:spPr>
        <p:txBody>
          <a:bodyPr/>
          <a:lstStyle/>
          <a:p>
            <a:r>
              <a:rPr lang="en-US" dirty="0"/>
              <a:t>Data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3CB1-5B63-E648-5F77-2C8F29625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030" y="3949700"/>
            <a:ext cx="9334500" cy="2601002"/>
          </a:xfrm>
        </p:spPr>
        <p:txBody>
          <a:bodyPr>
            <a:noAutofit/>
          </a:bodyPr>
          <a:lstStyle/>
          <a:p>
            <a:r>
              <a:rPr lang="en-US" sz="2200" dirty="0"/>
              <a:t>Overall, most shops maintain comparable sales performance.</a:t>
            </a:r>
          </a:p>
          <a:p>
            <a:r>
              <a:rPr lang="en-US" sz="2200" dirty="0"/>
              <a:t>A few shops consistently underperform relative to the average.</a:t>
            </a:r>
          </a:p>
          <a:p>
            <a:r>
              <a:rPr lang="en-US" sz="2200" dirty="0"/>
              <a:t>Several shops — notably </a:t>
            </a:r>
            <a:r>
              <a:rPr lang="en-US" sz="2200" b="1" dirty="0"/>
              <a:t>Shop IDs 25, 28, 31, 42, and 54</a:t>
            </a:r>
            <a:r>
              <a:rPr lang="en-US" sz="2200" dirty="0"/>
              <a:t> — demonstrate outstanding performance and can be considered top sellers.</a:t>
            </a:r>
          </a:p>
          <a:p>
            <a:r>
              <a:rPr lang="en-US" sz="2200" dirty="0"/>
              <a:t>The total sales amount across shops generally mirrors the trend in the number of items sold, though some exceptions indicate a focus on higher-priced items.</a:t>
            </a:r>
          </a:p>
        </p:txBody>
      </p:sp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44425696-F222-32FB-B7E8-3EFB745B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609"/>
            <a:ext cx="11550342" cy="30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1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A16A-9B51-34DE-2D83-F7A42225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1E13-805A-F74F-80A8-5369B8A5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"/>
            <a:ext cx="10515600" cy="1325563"/>
          </a:xfrm>
        </p:spPr>
        <p:txBody>
          <a:bodyPr/>
          <a:lstStyle/>
          <a:p>
            <a:r>
              <a:rPr lang="en-US"/>
              <a:t>Data Insights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D26AD3-17BD-D82E-9D65-B9CE30709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" y="951598"/>
            <a:ext cx="11992981" cy="31981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53DBC9-5C20-EF96-4E95-A622EA6D318D}"/>
              </a:ext>
            </a:extLst>
          </p:cNvPr>
          <p:cNvSpPr txBox="1">
            <a:spLocks/>
          </p:cNvSpPr>
          <p:nvPr/>
        </p:nvSpPr>
        <p:spPr>
          <a:xfrm>
            <a:off x="1322020" y="4299626"/>
            <a:ext cx="9334500" cy="2240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Moscow (“</a:t>
            </a:r>
            <a:r>
              <a:rPr lang="az-Cyrl-AZ" sz="2400" dirty="0"/>
              <a:t>Москва</a:t>
            </a:r>
            <a:r>
              <a:rPr lang="en-US" sz="2200" b="1" dirty="0"/>
              <a:t>”)</a:t>
            </a:r>
            <a:r>
              <a:rPr lang="en-US" sz="2200" dirty="0"/>
              <a:t> emerges as the leading city in terms of total sales volume.</a:t>
            </a:r>
          </a:p>
          <a:p>
            <a:r>
              <a:rPr lang="en-US" sz="2200" dirty="0"/>
              <a:t>Other cities report substantially lower sales, though their performance remains relatively consistent, with a few showing moderate strength.</a:t>
            </a:r>
          </a:p>
          <a:p>
            <a:r>
              <a:rPr lang="en-US" sz="2200" dirty="0"/>
              <a:t>This suggests that a significant portion of total sales is concentrated in Moscow, highlighting its dominance as a primary market.</a:t>
            </a:r>
          </a:p>
        </p:txBody>
      </p:sp>
    </p:spTree>
    <p:extLst>
      <p:ext uri="{BB962C8B-B14F-4D97-AF65-F5344CB8AC3E}">
        <p14:creationId xmlns:p14="http://schemas.microsoft.com/office/powerpoint/2010/main" val="16643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BD5B-04D4-EC20-71A8-44471EA0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8168-A891-2277-452D-49718029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"/>
            <a:ext cx="10515600" cy="1325563"/>
          </a:xfrm>
        </p:spPr>
        <p:txBody>
          <a:bodyPr/>
          <a:lstStyle/>
          <a:p>
            <a:r>
              <a:rPr lang="en-US"/>
              <a:t>Data Insights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6F5718-E6FB-AA9D-070A-024229BECCE5}"/>
              </a:ext>
            </a:extLst>
          </p:cNvPr>
          <p:cNvSpPr txBox="1">
            <a:spLocks/>
          </p:cNvSpPr>
          <p:nvPr/>
        </p:nvSpPr>
        <p:spPr>
          <a:xfrm>
            <a:off x="1428750" y="4707437"/>
            <a:ext cx="9334500" cy="1021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Among all product categories, four stand out prominently: </a:t>
            </a:r>
            <a:r>
              <a:rPr lang="az-Cyrl-AZ" sz="2400" b="1" dirty="0"/>
              <a:t>Игры (</a:t>
            </a:r>
            <a:r>
              <a:rPr lang="en-US" sz="2400" b="1" dirty="0"/>
              <a:t>Games), </a:t>
            </a:r>
            <a:r>
              <a:rPr lang="az-Cyrl-AZ" sz="2400" b="1" dirty="0"/>
              <a:t>Кино (</a:t>
            </a:r>
            <a:r>
              <a:rPr lang="en-US" sz="2400" b="1" dirty="0"/>
              <a:t>Movies), </a:t>
            </a:r>
            <a:r>
              <a:rPr lang="az-Cyrl-AZ" sz="2400" b="1" dirty="0"/>
              <a:t>Музыка (</a:t>
            </a:r>
            <a:r>
              <a:rPr lang="en-US" sz="2400" b="1" dirty="0"/>
              <a:t>Music),</a:t>
            </a:r>
            <a:r>
              <a:rPr lang="en-US" sz="2400" dirty="0"/>
              <a:t> and </a:t>
            </a:r>
            <a:r>
              <a:rPr lang="az-Cyrl-AZ" sz="2400" b="1" dirty="0"/>
              <a:t>Подарки (</a:t>
            </a:r>
            <a:r>
              <a:rPr lang="en-US" sz="2400" b="1" dirty="0"/>
              <a:t>Gifts).</a:t>
            </a:r>
            <a:endParaRPr lang="en-US" sz="2200" dirty="0"/>
          </a:p>
        </p:txBody>
      </p:sp>
      <p:pic>
        <p:nvPicPr>
          <p:cNvPr id="4" name="Picture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0BAD772E-5F6E-B4E2-8628-1A830211E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8682"/>
            <a:ext cx="9120579" cy="33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5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1FDB-A0FE-EB00-00ED-411C8C33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6BA5-496C-EFF7-8B1F-B2582534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"/>
            <a:ext cx="10515600" cy="1325563"/>
          </a:xfrm>
        </p:spPr>
        <p:txBody>
          <a:bodyPr/>
          <a:lstStyle/>
          <a:p>
            <a:r>
              <a:rPr lang="en-US"/>
              <a:t>Data Insights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00B18AB-464C-2592-063D-16AC91BE1B1F}"/>
              </a:ext>
            </a:extLst>
          </p:cNvPr>
          <p:cNvSpPr txBox="1">
            <a:spLocks/>
          </p:cNvSpPr>
          <p:nvPr/>
        </p:nvSpPr>
        <p:spPr>
          <a:xfrm>
            <a:off x="1428750" y="4707437"/>
            <a:ext cx="9334500" cy="1738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Most product categories record relatively low sales, with only a few achieving notably higher figures.</a:t>
            </a:r>
          </a:p>
          <a:p>
            <a:r>
              <a:rPr lang="en-US" sz="2400" dirty="0"/>
              <a:t>This pattern indicates that a limited number of categories account for a disproportionately large share of total sales.</a:t>
            </a:r>
            <a:endParaRPr lang="en-US" sz="2200" dirty="0"/>
          </a:p>
        </p:txBody>
      </p:sp>
      <p:pic>
        <p:nvPicPr>
          <p:cNvPr id="5" name="Picture 4" descr="A graph with numbers and a number on it&#10;&#10;AI-generated content may be incorrect.">
            <a:extLst>
              <a:ext uri="{FF2B5EF4-FFF2-40B4-BE49-F238E27FC236}">
                <a16:creationId xmlns:a16="http://schemas.microsoft.com/office/drawing/2014/main" id="{7BBBDD2F-B147-A75C-B442-EF26031F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73919"/>
            <a:ext cx="12192000" cy="329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0FBC-987D-AC7C-C32A-63B92D57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95852216-3C29-D4B8-C0F4-DC2DB50F0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439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339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A986-A0DA-A4C5-F5E6-C2CD0D5D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407" y="1"/>
            <a:ext cx="10515600" cy="869430"/>
          </a:xfrm>
        </p:spPr>
        <p:txBody>
          <a:bodyPr/>
          <a:lstStyle/>
          <a:p>
            <a:r>
              <a:rPr lang="en-US" dirty="0"/>
              <a:t>Outcome</a:t>
            </a:r>
          </a:p>
        </p:txBody>
      </p:sp>
      <p:pic>
        <p:nvPicPr>
          <p:cNvPr id="27" name="Content Placeholder 26" descr="A graph with blue lines and red and green dots&#10;&#10;AI-generated content may be incorrect.">
            <a:extLst>
              <a:ext uri="{FF2B5EF4-FFF2-40B4-BE49-F238E27FC236}">
                <a16:creationId xmlns:a16="http://schemas.microsoft.com/office/drawing/2014/main" id="{342AC2DF-CF17-ED30-129A-0AA9DA50A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6201269" cy="3720761"/>
          </a:xfr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76FD086-3A56-256F-1DE4-EF5BC59475A1}"/>
              </a:ext>
            </a:extLst>
          </p:cNvPr>
          <p:cNvSpPr txBox="1">
            <a:spLocks/>
          </p:cNvSpPr>
          <p:nvPr/>
        </p:nvSpPr>
        <p:spPr>
          <a:xfrm>
            <a:off x="1260423" y="1446551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Polynomial Regression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1C42D1F-908C-E5BC-D69E-29B214F9E422}"/>
              </a:ext>
            </a:extLst>
          </p:cNvPr>
          <p:cNvSpPr txBox="1">
            <a:spLocks/>
          </p:cNvSpPr>
          <p:nvPr/>
        </p:nvSpPr>
        <p:spPr>
          <a:xfrm>
            <a:off x="7813624" y="1446550"/>
            <a:ext cx="1345366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ARIMA</a:t>
            </a:r>
          </a:p>
        </p:txBody>
      </p:sp>
      <p:pic>
        <p:nvPicPr>
          <p:cNvPr id="31" name="Picture 30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D2C00FBA-1F53-DBAF-7AB8-7ED7A4C02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246" y="1734563"/>
            <a:ext cx="6083222" cy="3649933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13EDE6EC-CF7B-627F-E6D8-8B9290FA33A8}"/>
              </a:ext>
            </a:extLst>
          </p:cNvPr>
          <p:cNvSpPr txBox="1">
            <a:spLocks/>
          </p:cNvSpPr>
          <p:nvPr/>
        </p:nvSpPr>
        <p:spPr>
          <a:xfrm>
            <a:off x="1260422" y="5438228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RMSE : 13.810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6D8D17CC-9223-95AF-12AF-8C6632B850FB}"/>
              </a:ext>
            </a:extLst>
          </p:cNvPr>
          <p:cNvSpPr txBox="1">
            <a:spLocks/>
          </p:cNvSpPr>
          <p:nvPr/>
        </p:nvSpPr>
        <p:spPr>
          <a:xfrm>
            <a:off x="7453858" y="5438228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Mean RMSE : 0.705</a:t>
            </a:r>
          </a:p>
        </p:txBody>
      </p:sp>
    </p:spTree>
    <p:extLst>
      <p:ext uri="{BB962C8B-B14F-4D97-AF65-F5344CB8AC3E}">
        <p14:creationId xmlns:p14="http://schemas.microsoft.com/office/powerpoint/2010/main" val="146443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DCAF7-F9C5-2ADE-897A-0A7A8EB2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D92C-E50B-87C1-D4C8-BB7EBE5A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407" y="1"/>
            <a:ext cx="10515600" cy="869430"/>
          </a:xfrm>
        </p:spPr>
        <p:txBody>
          <a:bodyPr/>
          <a:lstStyle/>
          <a:p>
            <a:r>
              <a:rPr lang="en-US" dirty="0"/>
              <a:t>Outcome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457F81A-E180-E769-1D2B-A58FDF892D6B}"/>
              </a:ext>
            </a:extLst>
          </p:cNvPr>
          <p:cNvSpPr txBox="1">
            <a:spLocks/>
          </p:cNvSpPr>
          <p:nvPr/>
        </p:nvSpPr>
        <p:spPr>
          <a:xfrm>
            <a:off x="1260423" y="1446551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eXtreme</a:t>
            </a:r>
            <a:r>
              <a:rPr lang="en-US" sz="2400" dirty="0"/>
              <a:t> Gradient Boosting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E5494143-5B39-B48A-D285-551C136C4CAB}"/>
              </a:ext>
            </a:extLst>
          </p:cNvPr>
          <p:cNvSpPr txBox="1">
            <a:spLocks/>
          </p:cNvSpPr>
          <p:nvPr/>
        </p:nvSpPr>
        <p:spPr>
          <a:xfrm>
            <a:off x="6970427" y="1446550"/>
            <a:ext cx="3465224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Light Gradient Boosting Machine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B30F3C9-6E02-87AF-A8BB-FBA34B834A0A}"/>
              </a:ext>
            </a:extLst>
          </p:cNvPr>
          <p:cNvSpPr txBox="1">
            <a:spLocks/>
          </p:cNvSpPr>
          <p:nvPr/>
        </p:nvSpPr>
        <p:spPr>
          <a:xfrm>
            <a:off x="1260422" y="5561813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RMSE : 0.687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29EFA50-5C01-4894-4551-05B1DFF45B50}"/>
              </a:ext>
            </a:extLst>
          </p:cNvPr>
          <p:cNvSpPr txBox="1">
            <a:spLocks/>
          </p:cNvSpPr>
          <p:nvPr/>
        </p:nvSpPr>
        <p:spPr>
          <a:xfrm>
            <a:off x="7453858" y="5642658"/>
            <a:ext cx="2981793" cy="434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RMSE : 0.679</a:t>
            </a:r>
          </a:p>
        </p:txBody>
      </p:sp>
      <p:pic>
        <p:nvPicPr>
          <p:cNvPr id="8" name="Picture 7" descr="A graph with blue lines and red and green text&#10;&#10;AI-generated content may be incorrect.">
            <a:extLst>
              <a:ext uri="{FF2B5EF4-FFF2-40B4-BE49-F238E27FC236}">
                <a16:creationId xmlns:a16="http://schemas.microsoft.com/office/drawing/2014/main" id="{1E72296D-38BD-BA33-ADE5-FD0E4221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401"/>
            <a:ext cx="6407820" cy="3844692"/>
          </a:xfrm>
          <a:prstGeom prst="rect">
            <a:avLst/>
          </a:prstGeom>
        </p:spPr>
      </p:pic>
      <p:pic>
        <p:nvPicPr>
          <p:cNvPr id="10" name="Picture 9" descr="A graph with blue lines and green dots&#10;&#10;AI-generated content may be incorrect.">
            <a:extLst>
              <a:ext uri="{FF2B5EF4-FFF2-40B4-BE49-F238E27FC236}">
                <a16:creationId xmlns:a16="http://schemas.microsoft.com/office/drawing/2014/main" id="{89A98D65-EA41-B30C-BE99-88654A472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182" y="1767684"/>
            <a:ext cx="6407818" cy="384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95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3BD74-60DF-31F9-6EE6-285B4BA3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3F1B5-AA22-CA92-03B8-A3E8441AF5D8}"/>
              </a:ext>
            </a:extLst>
          </p:cNvPr>
          <p:cNvSpPr txBox="1"/>
          <p:nvPr/>
        </p:nvSpPr>
        <p:spPr>
          <a:xfrm>
            <a:off x="630935" y="2807208"/>
            <a:ext cx="3870727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Conclusion: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ARIMA, LGBM and XGB, all have similar validation error scores.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LGBM model’s error score is the least.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LGBM was faster to train than XGBM.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ARIMA model was the slowest to train.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The recommended </a:t>
            </a:r>
            <a:r>
              <a:rPr lang="en-US" sz="2000" b="1" dirty="0"/>
              <a:t>model is LGBM</a:t>
            </a:r>
          </a:p>
        </p:txBody>
      </p:sp>
      <p:pic>
        <p:nvPicPr>
          <p:cNvPr id="10" name="Picture 9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28E5F4E5-84CC-DE06-A806-428146CCE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2" y="1645920"/>
            <a:ext cx="7315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738</Words>
  <Application>Microsoft Macintosh PowerPoint</Application>
  <PresentationFormat>Widescreen</PresentationFormat>
  <Paragraphs>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What are we solving?</vt:lpstr>
      <vt:lpstr>Why does it matter?</vt:lpstr>
      <vt:lpstr>What are the benefits? </vt:lpstr>
      <vt:lpstr>How we achieved this?</vt:lpstr>
      <vt:lpstr>Data Insights</vt:lpstr>
      <vt:lpstr>Data Insights</vt:lpstr>
      <vt:lpstr>Data Insights</vt:lpstr>
      <vt:lpstr>Data Insights</vt:lpstr>
      <vt:lpstr>Data Insights</vt:lpstr>
      <vt:lpstr>Methodology</vt:lpstr>
      <vt:lpstr>Outcome</vt:lpstr>
      <vt:lpstr>Outcome</vt:lpstr>
      <vt:lpstr>Model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Wate, Shirish</dc:creator>
  <cp:lastModifiedBy>Wate, Shirish</cp:lastModifiedBy>
  <cp:revision>16</cp:revision>
  <dcterms:created xsi:type="dcterms:W3CDTF">2025-10-06T06:10:40Z</dcterms:created>
  <dcterms:modified xsi:type="dcterms:W3CDTF">2025-10-08T06:24:40Z</dcterms:modified>
</cp:coreProperties>
</file>